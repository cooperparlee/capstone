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6"/>
  </p:notesMasterIdLst>
  <p:sldIdLst>
    <p:sldId id="257" r:id="rId5"/>
    <p:sldId id="366" r:id="rId6"/>
    <p:sldId id="364" r:id="rId7"/>
    <p:sldId id="367" r:id="rId8"/>
    <p:sldId id="399" r:id="rId9"/>
    <p:sldId id="403" r:id="rId10"/>
    <p:sldId id="405" r:id="rId11"/>
    <p:sldId id="408" r:id="rId12"/>
    <p:sldId id="409" r:id="rId13"/>
    <p:sldId id="410" r:id="rId14"/>
    <p:sldId id="406" r:id="rId15"/>
    <p:sldId id="412" r:id="rId16"/>
    <p:sldId id="413" r:id="rId17"/>
    <p:sldId id="414" r:id="rId18"/>
    <p:sldId id="417" r:id="rId19"/>
    <p:sldId id="384" r:id="rId20"/>
    <p:sldId id="390" r:id="rId21"/>
    <p:sldId id="385" r:id="rId22"/>
    <p:sldId id="394" r:id="rId23"/>
    <p:sldId id="391" r:id="rId24"/>
    <p:sldId id="386" r:id="rId25"/>
    <p:sldId id="393" r:id="rId26"/>
    <p:sldId id="419" r:id="rId27"/>
    <p:sldId id="397" r:id="rId28"/>
    <p:sldId id="371" r:id="rId29"/>
    <p:sldId id="411" r:id="rId30"/>
    <p:sldId id="407" r:id="rId31"/>
    <p:sldId id="402" r:id="rId32"/>
    <p:sldId id="404" r:id="rId33"/>
    <p:sldId id="420" r:id="rId34"/>
    <p:sldId id="41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457"/>
    <a:srgbClr val="FFB400"/>
    <a:srgbClr val="D8D9E9"/>
    <a:srgbClr val="949AC3"/>
    <a:srgbClr val="A2A4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BE1D8-0E9D-400E-A650-BA1FC4C64EB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5A680-AB40-47A4-8B4E-43E063D40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1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470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E4E7-F4C5-A0E4-17D8-091AF2A70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A66A6-1BFA-248B-6999-23BAA667A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6C7D9-8565-E8C5-BFC4-76CC6EAE2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79754-67C4-0E14-F81B-5310D86D3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42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56582-2C3E-376C-5F29-B1F267B1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5CFA9-2021-0C74-8EBA-021FE2A11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F872F-6D53-9848-826F-BC775B8E5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/>
              <a:t>Scada -&gt; network of devices, controlling and monitoring real time data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HMI (human-machine interface) -&gt; operators use to control systems, how we interact</a:t>
            </a:r>
          </a:p>
          <a:p>
            <a:pPr marL="171450" indent="-171450">
              <a:buFont typeface="Calibri"/>
              <a:buChar char="-"/>
            </a:pP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/>
              <a:t>Solution to this problem...</a:t>
            </a:r>
          </a:p>
          <a:p>
            <a:pPr marL="171450" indent="-171450">
              <a:buFont typeface="Calibri"/>
              <a:buChar char="-"/>
            </a:pPr>
            <a:endParaRPr lang="en-US"/>
          </a:p>
          <a:p>
            <a:pPr marL="171450" indent="-171450">
              <a:buFont typeface="Calibri"/>
              <a:buChar char="-"/>
            </a:pPr>
            <a:endParaRPr lang="en-US"/>
          </a:p>
          <a:p>
            <a:pPr marL="171450" indent="-171450">
              <a:buFont typeface="Calibri"/>
              <a:buChar char="-"/>
            </a:pP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/>
              <a:t>(Supervisory Control and Data Acquisition)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264CB-6327-26A8-D31D-44B3ABC91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872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D934-3F2F-80A2-3EDD-4293A29B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EA1F6-4694-B631-99A7-F05125F42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EA456-8E22-823D-55FC-9334DCEC8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437E1-2565-5050-13E2-EDBA86749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782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3042E-56C1-15D0-315D-C0CBAC7C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F1F27-AD62-4C1C-E417-D0F7F8C2D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6603B-CDDA-D941-0ADE-4367A63F1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BAFBC-224F-ED74-BCCA-C8F721A97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005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C722F-7CC7-9BAA-0CB3-4EC42F9F4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C1EF2-A92C-FEB9-2DDA-162B37ADC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65DC3-F4F0-4368-6EDF-75BA46CD5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0E227-DF84-66D4-FF88-71B0CA955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180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62566-BFD0-D8CB-FD82-C2C498E5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BF6B1-228B-F335-C3C6-786D28548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AF2A0-35BA-2A8D-27A6-73E801708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D7D13-9573-0C3B-E580-37C7C3B20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388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F5C9-2B3D-FBFA-3A79-F1143BD95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7B9BD-8CAA-F67C-539F-80C3750F6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63A13-CE57-A1B3-0FF0-150987BAB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99017-4078-7DE6-7FB6-00540FF18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958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B8B33-1E7A-6594-7541-CED06086A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7136E-4999-723D-0DE5-48EEE7476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6729B-29E2-9638-B808-36F3A027A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BB933-5F7E-34CE-8C52-FD88CCE2D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827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98367-6E93-AC58-DD4A-143946F2B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279F5-0E78-49C2-DF6B-4EACAC0BE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6408D-D3D3-FDB1-3D3C-438C70364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10895-A6AB-C905-AD82-D12B171D9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63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DFF2-21B5-B8C1-941C-BD120972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8C4C9-93D8-CA36-C4CA-D51CBE101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65876-D9A1-6560-F0AD-89E42E926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88EC8-C256-9BAD-9245-85CFDFB1C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261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C80FE-72D7-132A-0214-9DFF24A5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A1A7A-B73C-4660-448E-A8623DC74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FF15A-A1B0-356E-1E66-97A483121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ACEBF-8578-5C03-155B-DB7E4B638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113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0DDD4-CE1F-7662-17FB-0364537D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19158-A530-F218-48AC-38DC0715A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35F1E-2F27-0ABB-4AB5-18D5B9339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00735-DA77-F026-9A7A-6D75A9926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311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4C92-339D-DA79-FC7B-9B05152F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1DEEC-030D-B1DC-11AC-ED59D43EC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CCC22-A44D-6C5B-E657-BA78E7989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 = 50</a:t>
            </a:r>
          </a:p>
          <a:p>
            <a:r>
              <a:rPr lang="en-US"/>
              <a:t>h = 3000 explicitly so I don’t need to calc </a:t>
            </a:r>
            <a:r>
              <a:rPr lang="en-US" err="1"/>
              <a:t>Nussalt</a:t>
            </a:r>
            <a:r>
              <a:rPr lang="en-US"/>
              <a:t> and </a:t>
            </a:r>
            <a:r>
              <a:rPr lang="en-US" err="1"/>
              <a:t>Prandalt</a:t>
            </a:r>
            <a:r>
              <a:rPr lang="en-US"/>
              <a:t> numbers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96FB5-27B1-7E93-B215-F3380F2FB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872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41AF-3A3E-E853-0067-5F4230CD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B0E2C-B847-064D-5E21-9F131DED0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1E24F-F62B-B14D-2183-9BE69CACE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FD8E2-B48B-597A-FCF5-892FF367E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480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A4566-BBC2-8995-A0C7-97699670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DA34E-7489-D1CF-9543-86669639C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63047-E637-99FF-BFE9-18072256C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PLC = Modbus Client</a:t>
            </a:r>
          </a:p>
          <a:p>
            <a:r>
              <a:rPr lang="en-US"/>
              <a:t>Talk about block input/output next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37880-86E1-205A-89FF-4A1AB643E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51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CDC6-2960-B67F-6877-077C28D0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6DEA3-BE56-819E-91FB-AB992F5B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0C091-A59A-DD8C-5062-B7C5633F5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MSG block - Global Variable </a:t>
            </a:r>
          </a:p>
          <a:p>
            <a:r>
              <a:rPr lang="en-US"/>
              <a:t>2 sections (local and target Config)</a:t>
            </a:r>
          </a:p>
          <a:p>
            <a:r>
              <a:rPr lang="en-US"/>
              <a:t>LC: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Command (3 Read Hold, 4 Read Input, 6 write one, 16, write multi (holding))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# of elements to read/write</a:t>
            </a:r>
          </a:p>
          <a:p>
            <a:r>
              <a:rPr lang="en-US"/>
              <a:t>TC: 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Modbus Addressing - tells </a:t>
            </a:r>
            <a:r>
              <a:rPr lang="en-US" err="1"/>
              <a:t>modbus</a:t>
            </a:r>
            <a:r>
              <a:rPr lang="en-US"/>
              <a:t> where that info need to go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Indexing Problem -&gt; need to add one to write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IP Address Modbus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1D995-2D5E-1486-46FB-1F6D61397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56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5E2D-5616-765C-F562-4636DD1B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A2FE5-A0FF-F6DC-C4D6-BFEFC220D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3C4C1-B985-31B1-6A79-4855DEF76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224B0-544B-C008-8AF2-736A55729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5993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1DC31-E657-3942-F36A-5A88F9CB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FBBF8-AFFC-A0BE-B1A7-839ABDE01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67EA3-8170-E632-C828-F0BF1800F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2576B-71F2-26CC-AF7F-7A5F5D2DF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4957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8163-ED30-F7B1-AE19-010678AA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B98E2-C7FE-F76C-D44D-D470C7336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98AE0-3D98-78F2-9A59-7F1D0F737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Can’t get to that point w/o data manipulation </a:t>
            </a:r>
          </a:p>
          <a:p>
            <a:pPr marL="171450" indent="-171450">
              <a:buFontTx/>
              <a:buChar char="-"/>
            </a:pPr>
            <a:r>
              <a:rPr lang="en-US"/>
              <a:t>Points come in as INT data type </a:t>
            </a:r>
          </a:p>
          <a:p>
            <a:pPr marL="171450" indent="-171450">
              <a:buFontTx/>
              <a:buChar char="-"/>
            </a:pPr>
            <a:r>
              <a:rPr lang="en-US"/>
              <a:t>Need to change the data type</a:t>
            </a:r>
          </a:p>
          <a:p>
            <a:pPr marL="171450" indent="-171450">
              <a:buFontTx/>
              <a:buChar char="-"/>
            </a:pPr>
            <a:r>
              <a:rPr lang="en-US"/>
              <a:t>Scale raw value </a:t>
            </a:r>
          </a:p>
          <a:p>
            <a:pPr marL="171450" indent="-171450">
              <a:buFontTx/>
              <a:buChar char="-"/>
            </a:pPr>
            <a:r>
              <a:rPr lang="en-US"/>
              <a:t>Change data type again </a:t>
            </a:r>
          </a:p>
          <a:p>
            <a:pPr marL="171450" indent="-171450">
              <a:buFontTx/>
              <a:buChar char="-"/>
            </a:pPr>
            <a:r>
              <a:rPr lang="en-US"/>
              <a:t>Move data to MSG block to send to Pi Modbus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Int 16 bit </a:t>
            </a:r>
          </a:p>
          <a:p>
            <a:pPr marL="171450" indent="-171450">
              <a:buFontTx/>
              <a:buChar char="-"/>
            </a:pPr>
            <a:r>
              <a:rPr lang="en-US"/>
              <a:t>Word 32 bit </a:t>
            </a:r>
          </a:p>
          <a:p>
            <a:pPr marL="171450" indent="-171450">
              <a:buFontTx/>
              <a:buChar char="-"/>
            </a:pPr>
            <a:r>
              <a:rPr lang="en-US"/>
              <a:t>Real (32 or 64 bit) floating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B5FAF-F17C-5A18-9B4A-B81B92DB4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473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4ED21-C930-1F63-E814-994E71DA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0CDA6-B849-0D5B-30CE-7BFA01B57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58E7B-B2BB-295F-9502-FEF8A78CD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Proportional Integral Derivative (calcs error using a setpoint which then applies it to output)</a:t>
            </a:r>
          </a:p>
          <a:p>
            <a:pPr marL="0" indent="0">
              <a:buFontTx/>
              <a:buNone/>
            </a:pPr>
            <a:r>
              <a:rPr lang="en-US"/>
              <a:t>- More realistic model (relation to real world) 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Manual vs Auto Mode </a:t>
            </a:r>
          </a:p>
          <a:p>
            <a:pPr marL="171450" indent="-171450">
              <a:buFont typeface="Calibri"/>
              <a:buChar char="-"/>
            </a:pP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/>
              <a:t>Enable on both modes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PV (control to)(engine temp)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Temp value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Toggle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Pump load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Very important -&gt; </a:t>
            </a:r>
            <a:r>
              <a:rPr lang="en-US" err="1"/>
              <a:t>rever</a:t>
            </a:r>
            <a:r>
              <a:rPr lang="en-US"/>
              <a:t>se process direct control -&gt; wont work if wrong</a:t>
            </a:r>
          </a:p>
          <a:p>
            <a:pPr marL="171450" indent="-171450">
              <a:buFont typeface="Calibri"/>
              <a:buChar char="-"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757AE-67F5-676D-0747-48858BD11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3521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ACAE-10FF-2DBA-F5DF-7EB9F909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6C66D-C7C6-412C-4291-D79192B90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F9F29-AFCC-DE4F-885A-679AACF45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/>
              <a:t>Three parameters (</a:t>
            </a:r>
            <a:r>
              <a:rPr lang="en-US" err="1"/>
              <a:t>deriv</a:t>
            </a:r>
            <a:r>
              <a:rPr lang="en-US"/>
              <a:t> time = 0) 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Engine load = hard tuning -&gt; nonlinear 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Tune @ EL = 100% -&gt; most linear section when tested 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Found experimental w/ bump test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Change Setpoint to See how system respond to change 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Need more tuning -&gt; real system = bad, this application = ok 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Overshoot and oscillation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E5252-D305-735F-D296-7D8E75B21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2388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ED41F-9002-BF87-7D9E-8B3AC5BB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6AE0C-041D-E343-5B98-2491A3A65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836C5-9BDF-32F6-8AE7-57BAD7C9F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9A94F-7425-3E7B-8451-775D4EAC7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8518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9A09-026A-26E0-5552-AC2552A45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90943-29ED-EF2F-9B8F-A2B180FAF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75DA0-C0B6-643E-6D81-8D0851E40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C014F-46CD-485F-2DF4-497B0A87F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6773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34B6E-0684-6749-7C26-577EE68BE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D801E-46E2-2B0E-456F-7863F3597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9AEF0-EBBB-3740-8AD1-0C95ACC75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FE309-649C-8270-ECB3-A32A233BE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17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9E4B6-4719-1ECD-1DE2-E16C76167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08F24-28DB-2404-C7E6-F356C44AD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3A74D-86CB-8A93-5798-BF35DCD8D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30B08-6F79-09A4-89DD-BB22FF0DE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6376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FCF4-AD4F-530F-D02F-1B650A97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C7B78-890D-F394-0099-CB4BCBAE2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DFC0B-CDBB-FABC-A79D-D2A8D1C51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09C7C-0B87-C6AA-D2FF-3C170070C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5614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DC9A-C661-208D-5B5B-8D942790C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C18DE-3CC3-19C1-9C0B-7F7D663C3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5481C-DDFF-BC52-EA89-94E3FAD6C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532C-49A8-6A74-D698-0DD5198416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0374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BD85-D02F-DEBE-3B84-56156A13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5ADDE-EA7F-91B2-5F57-69EAF060C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A0B4D-D25B-286C-172A-4C46D6D1F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4C8D-8FB1-5DD5-6251-4C1E6CB2F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15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BD85-D02F-DEBE-3B84-56156A13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5ADDE-EA7F-91B2-5F57-69EAF060C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A0B4D-D25B-286C-172A-4C46D6D1F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/>
              <a:t>PID thinks it needs to build heat -&gt; can't produce (-) RPM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Apply offset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Allows pump always run when in auto -&gt; allows the PID to do its job</a:t>
            </a:r>
          </a:p>
          <a:p>
            <a:pPr marL="171450" indent="-171450">
              <a:buFont typeface="Calibri"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4C8D-8FB1-5DD5-6251-4C1E6CB2F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150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AA381-14B1-7FC4-B62D-272F8F2F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3331A-AA3E-E8D4-9980-120C44256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8D5AF-54B3-2B03-9955-1253F41C7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C4B84-CF4D-639A-11E2-07012E0AC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FD1D-D77D-4FE3-8650-4E2A5DEB0B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375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200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9E58E5-A8F9-C548-ABA0-7A2AD82E6477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85FB45-874A-475E-8612-6CAAA1ED55D9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7552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769514-5F9B-074A-AF43-502248402844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75AF40-4A56-4483-A438-5C380A1B1A4C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7474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963081" y="4406896"/>
            <a:ext cx="10363200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963081" y="2906713"/>
            <a:ext cx="10363200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6E8680-3397-C642-9046-0C2042AD6ACA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1677759-9406-4627-985A-A7C53CD30A9A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5683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609601" y="1600201"/>
            <a:ext cx="5384804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6197595" y="1600201"/>
            <a:ext cx="5384804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5E6263-414E-F049-A976-98BE783CC554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A12A305-C63D-4EF0-9C9A-417C6F0B6317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4934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2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609600" y="2174872"/>
            <a:ext cx="5386912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6193364" y="1535114"/>
            <a:ext cx="5389035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6193364" y="2174872"/>
            <a:ext cx="5389035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0EB0C9-4F30-B44C-9A65-38FB7D3C97CD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8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8A02F6-4EE3-4629-88A0-9220606AC4C7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581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9BAC60-C8AD-8A41-A80E-94E4EF00B8DB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5F2BA9-E289-45CF-A6C9-AEE2F8D88526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9407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FC6E7A-B2E9-BD45-A871-AE4B89B6250B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3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04245A-7702-466F-ACC4-EE3892653074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5542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09601" y="273048"/>
            <a:ext cx="4011081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69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609601" y="1435095"/>
            <a:ext cx="4011081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E60B7C-3F74-F64F-A206-80C118CF64AB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F8A4BF-640D-4FCD-B249-016CDC3604DA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5838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2389717" y="4800601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2389717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2389717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B0EF5EF-4048-3740-A8DC-87CA578B39DF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3FFC8C-5160-4DFA-B481-1370C1FC8A64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7078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3A8FC5-8E3F-F64F-A057-CCD63E36C406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A2EDA9-12D1-4A50-A1B9-4AFCF347D14E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9740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609600" y="274641"/>
            <a:ext cx="8026395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A1EDC3-CF39-714A-B591-BBBBA255CBE8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1934539-1AC0-4ACE-89E3-9699BC43A855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2065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609600" y="6356352"/>
            <a:ext cx="2844795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6A5799BE-5443-2F4C-A7BE-8DF3187690AE}" type="datetime1">
              <a:rPr lang="en-US" smtClean="0"/>
              <a:pPr lvl="0"/>
              <a:t>8/4/2026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4165605" y="6356352"/>
            <a:ext cx="3860804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/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2"/>
            <a:ext cx="2844795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A397BA98-D18E-4F56-8410-BD07A55A4445}" type="slidenum">
              <a:rPr/>
              <a:pPr lv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marL="0" marR="0" lvl="0" indent="0" algn="ctr" defTabSz="914400" rtl="0" eaLnBrk="1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eaLnBrk="1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eaLnBrk="1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eaLnBrk="1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10" Type="http://schemas.openxmlformats.org/officeDocument/2006/relationships/image" Target="../media/image35.jpeg"/><Relationship Id="rId4" Type="http://schemas.openxmlformats.org/officeDocument/2006/relationships/image" Target="../media/image30.jpeg"/><Relationship Id="rId9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4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C343AA-D5A9-D6BD-3344-36D66229032B}"/>
              </a:ext>
            </a:extLst>
          </p:cNvPr>
          <p:cNvSpPr/>
          <p:nvPr/>
        </p:nvSpPr>
        <p:spPr>
          <a:xfrm>
            <a:off x="2691500" y="777551"/>
            <a:ext cx="7072192" cy="4825511"/>
          </a:xfrm>
          <a:prstGeom prst="rect">
            <a:avLst/>
          </a:prstGeom>
          <a:solidFill>
            <a:srgbClr val="3234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1176011" y="1355554"/>
            <a:ext cx="9839965" cy="2057403"/>
          </a:xfrm>
        </p:spPr>
        <p:txBody>
          <a:bodyPr/>
          <a:lstStyle/>
          <a:p>
            <a:r>
              <a:rPr lang="en-US" sz="3600" b="1">
                <a:solidFill>
                  <a:schemeClr val="bg1"/>
                </a:solidFill>
                <a:latin typeface="Times"/>
                <a:cs typeface="Times"/>
              </a:rPr>
              <a:t>Reactor on Chip (ROC):</a:t>
            </a:r>
            <a:br>
              <a:rPr lang="en-US" sz="3600" b="1">
                <a:solidFill>
                  <a:schemeClr val="bg1"/>
                </a:solidFill>
                <a:latin typeface="Times"/>
                <a:cs typeface="Times"/>
              </a:rPr>
            </a:br>
            <a:r>
              <a:rPr lang="en-US" sz="2400" b="1" i="1">
                <a:solidFill>
                  <a:schemeClr val="bg1"/>
                </a:solidFill>
                <a:latin typeface="Times"/>
                <a:cs typeface="Times"/>
              </a:rPr>
              <a:t>Simulated Industrial Plant on Raspberry Pi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2285996" y="3577384"/>
            <a:ext cx="7619996" cy="2374232"/>
          </a:xfrm>
        </p:spPr>
        <p:txBody>
          <a:bodyPr/>
          <a:lstStyle/>
          <a:p>
            <a:pPr>
              <a:spcBef>
                <a:spcPts val="600"/>
              </a:spcBef>
            </a:pPr>
            <a:endParaRPr lang="en-US" sz="2400">
              <a:solidFill>
                <a:schemeClr val="bg1"/>
              </a:solidFill>
              <a:latin typeface="Times"/>
              <a:cs typeface="Times"/>
            </a:endParaRP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Cooper Parlee and Alyssa Moody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23 April, 2026</a:t>
            </a:r>
          </a:p>
          <a:p>
            <a:pPr>
              <a:spcBef>
                <a:spcPts val="600"/>
              </a:spcBef>
            </a:pPr>
            <a:endParaRPr lang="en-US" sz="2400">
              <a:solidFill>
                <a:schemeClr val="bg1"/>
              </a:solidFill>
              <a:latin typeface="Times"/>
              <a:cs typeface="Times"/>
            </a:endParaRPr>
          </a:p>
          <a:p>
            <a:pPr>
              <a:spcBef>
                <a:spcPts val="600"/>
              </a:spcBef>
            </a:pPr>
            <a:endParaRPr lang="en-US" sz="2400">
              <a:solidFill>
                <a:schemeClr val="bg1"/>
              </a:solidFill>
              <a:latin typeface="Times"/>
              <a:cs typeface="Times"/>
            </a:endParaRPr>
          </a:p>
          <a:p>
            <a:pPr>
              <a:spcBef>
                <a:spcPts val="600"/>
              </a:spcBef>
            </a:pPr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lvl="0"/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1685FB45-874A-475E-8612-6CAAA1ED55D9}" type="slidenum">
              <a:rPr lang="en-US"/>
              <a:pPr/>
              <a:t>1</a:t>
            </a:fld>
            <a:endParaRPr lang="en-US"/>
          </a:p>
        </p:txBody>
      </p:sp>
      <p:pic>
        <p:nvPicPr>
          <p:cNvPr id="6" name="Picture 5" descr="Maine_Maritime_Academy_seal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4599" y="449583"/>
            <a:ext cx="994052" cy="10058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E3BFBB-9D6E-6BEC-BBA6-A4A77F794D4B}"/>
              </a:ext>
            </a:extLst>
          </p:cNvPr>
          <p:cNvCxnSpPr>
            <a:cxnSpLocks/>
          </p:cNvCxnSpPr>
          <p:nvPr/>
        </p:nvCxnSpPr>
        <p:spPr>
          <a:xfrm>
            <a:off x="2692783" y="697302"/>
            <a:ext cx="7069444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4C4F52-EB16-996C-0404-943D9BEBD01D}"/>
              </a:ext>
            </a:extLst>
          </p:cNvPr>
          <p:cNvCxnSpPr>
            <a:cxnSpLocks/>
          </p:cNvCxnSpPr>
          <p:nvPr/>
        </p:nvCxnSpPr>
        <p:spPr>
          <a:xfrm>
            <a:off x="2692783" y="5686245"/>
            <a:ext cx="7069444" cy="28754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56109-EFAC-3B35-0601-A0ED7B135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3E13527-021E-6EE9-8178-B9816BAF00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9DEDA-3B68-15FB-61A0-A9BA9C5AE3C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5DBCD2-692A-D730-B9C4-D20E3B8D2C57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88DAF252-CF9C-753E-F99F-B2CCF337E865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C1977B-B93E-CCA8-FDD9-D60D0D2654ED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E3D522D4-2623-A615-B8A6-591012118A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C96EE7-750D-F94D-04EB-412693E62850}"/>
              </a:ext>
            </a:extLst>
          </p:cNvPr>
          <p:cNvSpPr txBox="1"/>
          <p:nvPr/>
        </p:nvSpPr>
        <p:spPr>
          <a:xfrm>
            <a:off x="175896" y="205200"/>
            <a:ext cx="6823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Agenda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280F29-1DE2-58CB-A3D6-B5A9649A3FD2}"/>
              </a:ext>
            </a:extLst>
          </p:cNvPr>
          <p:cNvSpPr/>
          <p:nvPr/>
        </p:nvSpPr>
        <p:spPr>
          <a:xfrm>
            <a:off x="2221723" y="1363593"/>
            <a:ext cx="7949270" cy="477554"/>
          </a:xfrm>
          <a:prstGeom prst="rect">
            <a:avLst/>
          </a:prstGeom>
          <a:solidFill>
            <a:srgbClr val="323457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BB1B1B0-76A2-AE67-B6BC-ED5A612FFB88}"/>
              </a:ext>
            </a:extLst>
          </p:cNvPr>
          <p:cNvSpPr txBox="1">
            <a:spLocks/>
          </p:cNvSpPr>
          <p:nvPr/>
        </p:nvSpPr>
        <p:spPr>
          <a:xfrm>
            <a:off x="5342966" y="1356832"/>
            <a:ext cx="1733570" cy="46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Font typeface="Arial"/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Overview</a:t>
            </a:r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5192A-F8B2-E9B1-E738-0044956AA03D}"/>
              </a:ext>
            </a:extLst>
          </p:cNvPr>
          <p:cNvSpPr/>
          <p:nvPr/>
        </p:nvSpPr>
        <p:spPr>
          <a:xfrm>
            <a:off x="2221722" y="1924309"/>
            <a:ext cx="7949270" cy="477554"/>
          </a:xfrm>
          <a:prstGeom prst="rect">
            <a:avLst/>
          </a:prstGeom>
          <a:solidFill>
            <a:srgbClr val="323457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174B350-20E7-6352-9FCF-407A0C4C895C}"/>
              </a:ext>
            </a:extLst>
          </p:cNvPr>
          <p:cNvSpPr txBox="1">
            <a:spLocks/>
          </p:cNvSpPr>
          <p:nvPr/>
        </p:nvSpPr>
        <p:spPr>
          <a:xfrm>
            <a:off x="3488286" y="1917548"/>
            <a:ext cx="5227268" cy="46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Simulation Environment</a:t>
            </a:r>
          </a:p>
          <a:p>
            <a:pPr marL="0" indent="0" algn="ctr">
              <a:buNone/>
            </a:pPr>
            <a:endParaRPr lang="en-US" sz="2400">
              <a:solidFill>
                <a:schemeClr val="bg1"/>
              </a:solidFill>
              <a:latin typeface="Times"/>
              <a:cs typeface="Time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928AF0-D05D-D09D-90AD-652C2623DE89}"/>
              </a:ext>
            </a:extLst>
          </p:cNvPr>
          <p:cNvSpPr/>
          <p:nvPr/>
        </p:nvSpPr>
        <p:spPr>
          <a:xfrm>
            <a:off x="2221721" y="2485025"/>
            <a:ext cx="7949270" cy="477554"/>
          </a:xfrm>
          <a:prstGeom prst="rect">
            <a:avLst/>
          </a:prstGeom>
          <a:solidFill>
            <a:srgbClr val="323457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DB20469-FCD6-4513-AD99-148454EA5AE0}"/>
              </a:ext>
            </a:extLst>
          </p:cNvPr>
          <p:cNvSpPr txBox="1">
            <a:spLocks/>
          </p:cNvSpPr>
          <p:nvPr/>
        </p:nvSpPr>
        <p:spPr>
          <a:xfrm>
            <a:off x="3574550" y="2478264"/>
            <a:ext cx="5227268" cy="46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Fluid Simulation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A2CB7A-9500-DB2F-DED4-47C80A33E40F}"/>
              </a:ext>
            </a:extLst>
          </p:cNvPr>
          <p:cNvSpPr/>
          <p:nvPr/>
        </p:nvSpPr>
        <p:spPr>
          <a:xfrm>
            <a:off x="2221720" y="3060119"/>
            <a:ext cx="7949270" cy="477554"/>
          </a:xfrm>
          <a:prstGeom prst="rect">
            <a:avLst/>
          </a:prstGeom>
          <a:solidFill>
            <a:srgbClr val="323457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7C60E1F-3085-3A5C-754B-59928D9645EC}"/>
              </a:ext>
            </a:extLst>
          </p:cNvPr>
          <p:cNvSpPr txBox="1">
            <a:spLocks/>
          </p:cNvSpPr>
          <p:nvPr/>
        </p:nvSpPr>
        <p:spPr>
          <a:xfrm>
            <a:off x="3488284" y="3053358"/>
            <a:ext cx="5227268" cy="46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Thermal Simulation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FDB9E8-66C2-DB99-49D9-2F4EB5335EF6}"/>
              </a:ext>
            </a:extLst>
          </p:cNvPr>
          <p:cNvSpPr/>
          <p:nvPr/>
        </p:nvSpPr>
        <p:spPr>
          <a:xfrm>
            <a:off x="2221719" y="3620836"/>
            <a:ext cx="7949270" cy="477554"/>
          </a:xfrm>
          <a:prstGeom prst="rect">
            <a:avLst/>
          </a:prstGeom>
          <a:solidFill>
            <a:srgbClr val="323457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A64E270-2830-BE01-1190-70FF63B31A2D}"/>
              </a:ext>
            </a:extLst>
          </p:cNvPr>
          <p:cNvSpPr txBox="1">
            <a:spLocks/>
          </p:cNvSpPr>
          <p:nvPr/>
        </p:nvSpPr>
        <p:spPr>
          <a:xfrm>
            <a:off x="3488283" y="3614075"/>
            <a:ext cx="5227268" cy="46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Modbus Communication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6EF640-7CD3-E32D-61AB-E0668580BD7F}"/>
              </a:ext>
            </a:extLst>
          </p:cNvPr>
          <p:cNvSpPr/>
          <p:nvPr/>
        </p:nvSpPr>
        <p:spPr>
          <a:xfrm>
            <a:off x="2221721" y="4181554"/>
            <a:ext cx="7949270" cy="477554"/>
          </a:xfrm>
          <a:prstGeom prst="rect">
            <a:avLst/>
          </a:prstGeom>
          <a:solidFill>
            <a:srgbClr val="323457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8E986D94-71D2-0DBE-2ECD-2BB0E3FDB65F}"/>
              </a:ext>
            </a:extLst>
          </p:cNvPr>
          <p:cNvSpPr txBox="1">
            <a:spLocks/>
          </p:cNvSpPr>
          <p:nvPr/>
        </p:nvSpPr>
        <p:spPr>
          <a:xfrm>
            <a:off x="3603304" y="4174793"/>
            <a:ext cx="5227268" cy="46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PLC and Modbus Communication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232F49-9B49-0CD3-A66B-91882FF4C199}"/>
              </a:ext>
            </a:extLst>
          </p:cNvPr>
          <p:cNvSpPr/>
          <p:nvPr/>
        </p:nvSpPr>
        <p:spPr>
          <a:xfrm>
            <a:off x="2221721" y="4727893"/>
            <a:ext cx="7949270" cy="477554"/>
          </a:xfrm>
          <a:prstGeom prst="rect">
            <a:avLst/>
          </a:prstGeom>
          <a:solidFill>
            <a:srgbClr val="323457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0E2A0E67-2155-C733-C0BB-E7235F3582CC}"/>
              </a:ext>
            </a:extLst>
          </p:cNvPr>
          <p:cNvSpPr txBox="1">
            <a:spLocks/>
          </p:cNvSpPr>
          <p:nvPr/>
        </p:nvSpPr>
        <p:spPr>
          <a:xfrm>
            <a:off x="3603304" y="4721132"/>
            <a:ext cx="5227268" cy="46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HMI 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19E948-B6BB-4082-BFA5-EBB1FEA1709C}"/>
              </a:ext>
            </a:extLst>
          </p:cNvPr>
          <p:cNvSpPr/>
          <p:nvPr/>
        </p:nvSpPr>
        <p:spPr>
          <a:xfrm>
            <a:off x="2221720" y="5274232"/>
            <a:ext cx="7949270" cy="477554"/>
          </a:xfrm>
          <a:prstGeom prst="rect">
            <a:avLst/>
          </a:prstGeom>
          <a:solidFill>
            <a:srgbClr val="323457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DF377513-0313-EB9C-6BBB-BD232DD56F2F}"/>
              </a:ext>
            </a:extLst>
          </p:cNvPr>
          <p:cNvSpPr txBox="1">
            <a:spLocks/>
          </p:cNvSpPr>
          <p:nvPr/>
        </p:nvSpPr>
        <p:spPr>
          <a:xfrm>
            <a:off x="3574548" y="5267471"/>
            <a:ext cx="5227268" cy="46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PID Construction and Tuning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E69E3E-93E8-3611-6086-53D5BA2A8923}"/>
              </a:ext>
            </a:extLst>
          </p:cNvPr>
          <p:cNvSpPr/>
          <p:nvPr/>
        </p:nvSpPr>
        <p:spPr>
          <a:xfrm>
            <a:off x="2221719" y="5834949"/>
            <a:ext cx="7949270" cy="477554"/>
          </a:xfrm>
          <a:prstGeom prst="rect">
            <a:avLst/>
          </a:prstGeom>
          <a:solidFill>
            <a:srgbClr val="323457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4314023-53F6-D0B8-B454-5AC847BD990F}"/>
              </a:ext>
            </a:extLst>
          </p:cNvPr>
          <p:cNvSpPr txBox="1">
            <a:spLocks/>
          </p:cNvSpPr>
          <p:nvPr/>
        </p:nvSpPr>
        <p:spPr>
          <a:xfrm>
            <a:off x="3603303" y="5842565"/>
            <a:ext cx="5227268" cy="4635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Avenues for Continued Work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9816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9AE74-DFCA-2FD9-DCC1-8A40C872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B10B352-4786-F34F-4904-1BEC1763A2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" panose="02020603050405020304"/>
              <a:ea typeface="+mn-ea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2E9C1-987D-063F-2F4F-835AD98EA0A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12A305-C63D-4EF0-9C9A-417C6F0B631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4C2FCC-D9E1-83E3-55A9-1E39E48C875D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1773B24-0DA5-0736-7E19-F398322921E6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E4D69A-0118-9D71-C4AB-ED3402317718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CDB1D092-7B64-3749-FCCB-57889D9565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9BC62B-2CA8-EF42-52FF-D9CBCB21BA3A}"/>
              </a:ext>
            </a:extLst>
          </p:cNvPr>
          <p:cNvSpPr txBox="1"/>
          <p:nvPr/>
        </p:nvSpPr>
        <p:spPr>
          <a:xfrm>
            <a:off x="175896" y="205200"/>
            <a:ext cx="6823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anose="02020603050405020304"/>
                <a:ea typeface="+mn-ea"/>
                <a:cs typeface="Times" panose="02020603050405020304"/>
              </a:rPr>
              <a:t>Overview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440C82-CE9B-7996-7B85-5C80D00F8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26" y="1707639"/>
            <a:ext cx="11418028" cy="4561107"/>
          </a:xfrm>
        </p:spPr>
        <p:txBody>
          <a:bodyPr anchor="t"/>
          <a:lstStyle/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Automation and Controls Lab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 Pro: PLCs and Control Systems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 Con: SCADA or HMIs (Industry Standard)</a:t>
            </a:r>
            <a:endParaRPr lang="en-US">
              <a:ea typeface="Calibri"/>
              <a:cs typeface="Calibri"/>
            </a:endParaRPr>
          </a:p>
          <a:p>
            <a:endParaRPr lang="en-US">
              <a:solidFill>
                <a:srgbClr val="09213B"/>
              </a:solidFill>
              <a:latin typeface="Times"/>
              <a:cs typeface="Times"/>
            </a:endParaRPr>
          </a:p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Virtual plant running on Raspberry Pi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Communicate over Modbus </a:t>
            </a: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Compatible with other Lab Devices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Framework for Further Projects</a:t>
            </a:r>
          </a:p>
          <a:p>
            <a:endParaRPr lang="en-US">
              <a:solidFill>
                <a:srgbClr val="09213B"/>
              </a:solidFill>
              <a:latin typeface="Times"/>
              <a:cs typeface="Times"/>
            </a:endParaRPr>
          </a:p>
        </p:txBody>
      </p:sp>
      <p:pic>
        <p:nvPicPr>
          <p:cNvPr id="1026" name="Picture 2" descr="Buy a Raspberry Pi 5 – Raspberry Pi">
            <a:extLst>
              <a:ext uri="{FF2B5EF4-FFF2-40B4-BE49-F238E27FC236}">
                <a16:creationId xmlns:a16="http://schemas.microsoft.com/office/drawing/2014/main" id="{0960D9EC-B3CE-EF35-CDDE-1AD0A4B37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183" y="2280287"/>
            <a:ext cx="3810000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15467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2EAB1-2D77-F45C-D96F-4399A80C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649F27A-8456-8704-12C8-7F526D4A2081}"/>
              </a:ext>
            </a:extLst>
          </p:cNvPr>
          <p:cNvSpPr/>
          <p:nvPr/>
        </p:nvSpPr>
        <p:spPr>
          <a:xfrm>
            <a:off x="1186552" y="5001064"/>
            <a:ext cx="4728742" cy="1426461"/>
          </a:xfrm>
          <a:prstGeom prst="rect">
            <a:avLst/>
          </a:prstGeom>
          <a:solidFill>
            <a:srgbClr val="323457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F80BF2-9089-6F48-3ECE-83D99B9EAADD}"/>
              </a:ext>
            </a:extLst>
          </p:cNvPr>
          <p:cNvSpPr/>
          <p:nvPr/>
        </p:nvSpPr>
        <p:spPr>
          <a:xfrm>
            <a:off x="1186551" y="1866799"/>
            <a:ext cx="4728742" cy="1426461"/>
          </a:xfrm>
          <a:prstGeom prst="rect">
            <a:avLst/>
          </a:prstGeom>
          <a:solidFill>
            <a:srgbClr val="323457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F8815C-0794-E6FF-B416-0D65A90BF4D9}"/>
              </a:ext>
            </a:extLst>
          </p:cNvPr>
          <p:cNvSpPr txBox="1">
            <a:spLocks/>
          </p:cNvSpPr>
          <p:nvPr/>
        </p:nvSpPr>
        <p:spPr>
          <a:xfrm>
            <a:off x="1662361" y="2449511"/>
            <a:ext cx="3767968" cy="5642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Fluid Power Simulation</a:t>
            </a:r>
          </a:p>
          <a:p>
            <a:pPr marL="0" indent="0" algn="ctr">
              <a:buNone/>
            </a:pPr>
            <a:endParaRPr lang="en-US" sz="2400">
              <a:solidFill>
                <a:schemeClr val="bg1"/>
              </a:solidFill>
              <a:latin typeface="Times"/>
              <a:ea typeface="Calibri"/>
              <a:cs typeface="Times"/>
            </a:endParaRPr>
          </a:p>
          <a:p>
            <a:pPr lvl="1" algn="ctr">
              <a:buFont typeface="Calibri"/>
              <a:buChar char="-"/>
            </a:pPr>
            <a:endParaRPr lang="en-US" sz="2400">
              <a:solidFill>
                <a:schemeClr val="bg1"/>
              </a:solidFill>
              <a:latin typeface="Times"/>
              <a:cs typeface="Time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0E85A3-CBB2-019B-BDF9-494B5BFB14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0122E-4CA4-AC3A-BF09-B0DABC189E0E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4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19C9B8-6DA7-3123-9142-6E9EDA4254B6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B134D11-E2B4-9FDE-AD94-D195622AE9D7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423E24-C219-ED5E-6DB7-4A300677DC3D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B028B22A-6ADF-5627-4041-4AB0269DCA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DBA6F5-F10C-1C45-F4C3-49DB03458E75}"/>
              </a:ext>
            </a:extLst>
          </p:cNvPr>
          <p:cNvSpPr txBox="1"/>
          <p:nvPr/>
        </p:nvSpPr>
        <p:spPr>
          <a:xfrm>
            <a:off x="175896" y="205200"/>
            <a:ext cx="682361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Simulation Environment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6E6375C-4F3C-4A1F-CE31-6402BE396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65" y="1290696"/>
            <a:ext cx="5953326" cy="506694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System Broken into 3 Modules</a:t>
            </a:r>
            <a:endParaRPr lang="en-US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>
              <a:solidFill>
                <a:srgbClr val="09213B"/>
              </a:solidFill>
              <a:latin typeface="Times"/>
              <a:cs typeface="Times"/>
            </a:endParaRPr>
          </a:p>
          <a:p>
            <a:pPr lvl="1" algn="ctr">
              <a:buFont typeface="Calibri"/>
              <a:buChar char="-"/>
            </a:pPr>
            <a:endParaRPr lang="en-US">
              <a:solidFill>
                <a:srgbClr val="09213B"/>
              </a:solidFill>
              <a:latin typeface="Times"/>
              <a:cs typeface="Time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BD044F-50F3-F99F-DB93-B9060993D35C}"/>
              </a:ext>
            </a:extLst>
          </p:cNvPr>
          <p:cNvSpPr txBox="1">
            <a:spLocks/>
          </p:cNvSpPr>
          <p:nvPr/>
        </p:nvSpPr>
        <p:spPr>
          <a:xfrm>
            <a:off x="6823832" y="2219474"/>
            <a:ext cx="1251931" cy="5354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Font typeface="Arial"/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Why?</a:t>
            </a:r>
          </a:p>
          <a:p>
            <a:pPr marL="457200" lvl="1" indent="0">
              <a:buNone/>
            </a:pPr>
            <a:endParaRPr lang="en-US">
              <a:solidFill>
                <a:srgbClr val="09213B"/>
              </a:solidFill>
              <a:latin typeface="Times"/>
              <a:ea typeface="Calibri"/>
              <a:cs typeface="Times"/>
            </a:endParaRPr>
          </a:p>
          <a:p>
            <a:pPr lvl="1">
              <a:buFont typeface="Calibri"/>
              <a:buChar char="-"/>
            </a:pPr>
            <a:endParaRPr lang="en-US">
              <a:solidFill>
                <a:srgbClr val="09213B"/>
              </a:solidFill>
              <a:latin typeface="Times"/>
              <a:cs typeface="Time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DE1E90-4568-2C48-E077-1F11D1C17094}"/>
              </a:ext>
            </a:extLst>
          </p:cNvPr>
          <p:cNvSpPr/>
          <p:nvPr/>
        </p:nvSpPr>
        <p:spPr>
          <a:xfrm>
            <a:off x="1186552" y="3433932"/>
            <a:ext cx="4728742" cy="1426461"/>
          </a:xfrm>
          <a:prstGeom prst="rect">
            <a:avLst/>
          </a:prstGeom>
          <a:solidFill>
            <a:srgbClr val="323457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905E675-BA34-468C-7F8F-A19E80AE9B62}"/>
              </a:ext>
            </a:extLst>
          </p:cNvPr>
          <p:cNvSpPr txBox="1">
            <a:spLocks/>
          </p:cNvSpPr>
          <p:nvPr/>
        </p:nvSpPr>
        <p:spPr>
          <a:xfrm>
            <a:off x="1676739" y="3973510"/>
            <a:ext cx="3767967" cy="6360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Thermal Simulation</a:t>
            </a:r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400">
              <a:solidFill>
                <a:schemeClr val="bg1"/>
              </a:solidFill>
              <a:latin typeface="Times"/>
              <a:ea typeface="Calibri"/>
              <a:cs typeface="Times"/>
            </a:endParaRPr>
          </a:p>
          <a:p>
            <a:pPr lvl="1" algn="ctr">
              <a:buFont typeface="Calibri"/>
              <a:buChar char="-"/>
            </a:pPr>
            <a:endParaRPr lang="en-US" sz="2400">
              <a:solidFill>
                <a:schemeClr val="bg1"/>
              </a:solidFill>
              <a:latin typeface="Times"/>
              <a:cs typeface="Time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CCB4622-2350-2CEA-6834-9D154D4B15F6}"/>
              </a:ext>
            </a:extLst>
          </p:cNvPr>
          <p:cNvSpPr txBox="1">
            <a:spLocks/>
          </p:cNvSpPr>
          <p:nvPr/>
        </p:nvSpPr>
        <p:spPr>
          <a:xfrm>
            <a:off x="1662225" y="5400019"/>
            <a:ext cx="3767968" cy="6360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  <a:latin typeface="Times"/>
                <a:cs typeface="Times"/>
              </a:rPr>
              <a:t>Modbus Communication/Sensor Handling</a:t>
            </a:r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400">
              <a:solidFill>
                <a:schemeClr val="bg1"/>
              </a:solidFill>
              <a:latin typeface="Times"/>
              <a:cs typeface="Times"/>
            </a:endParaRPr>
          </a:p>
          <a:p>
            <a:pPr lvl="1" algn="ctr">
              <a:buFont typeface="Calibri"/>
              <a:buChar char="-"/>
            </a:pPr>
            <a:endParaRPr lang="en-US">
              <a:solidFill>
                <a:schemeClr val="bg1"/>
              </a:solidFill>
              <a:latin typeface="Times"/>
              <a:cs typeface="Time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6D612-42D5-65BB-D47A-21C07F4CC946}"/>
              </a:ext>
            </a:extLst>
          </p:cNvPr>
          <p:cNvSpPr txBox="1">
            <a:spLocks/>
          </p:cNvSpPr>
          <p:nvPr/>
        </p:nvSpPr>
        <p:spPr>
          <a:xfrm>
            <a:off x="7959642" y="2003813"/>
            <a:ext cx="4199288" cy="17143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lnSpc>
                <a:spcPct val="200000"/>
              </a:lnSpc>
              <a:buFont typeface="Arial"/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Extensibility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Ease of Programming</a:t>
            </a:r>
            <a:endParaRPr lang="en-US">
              <a:ea typeface="Calibri"/>
              <a:cs typeface="Calibri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Organization</a:t>
            </a:r>
            <a:endParaRPr lang="en-US">
              <a:ea typeface="Calibri"/>
              <a:cs typeface="Calibri"/>
            </a:endParaRPr>
          </a:p>
          <a:p>
            <a:pPr lvl="1">
              <a:lnSpc>
                <a:spcPct val="200000"/>
              </a:lnSpc>
              <a:buFont typeface="Calibri"/>
              <a:buChar char="-"/>
            </a:pPr>
            <a:endParaRPr lang="en-US">
              <a:solidFill>
                <a:srgbClr val="09213B"/>
              </a:solidFill>
              <a:latin typeface="Times"/>
              <a:cs typeface="Times"/>
            </a:endParaRPr>
          </a:p>
        </p:txBody>
      </p:sp>
      <p:pic>
        <p:nvPicPr>
          <p:cNvPr id="6" name="Graphic 5" descr="Checkbox Checked outline">
            <a:extLst>
              <a:ext uri="{FF2B5EF4-FFF2-40B4-BE49-F238E27FC236}">
                <a16:creationId xmlns:a16="http://schemas.microsoft.com/office/drawing/2014/main" id="{212C583B-C788-02A6-321E-D9BAEFE0AC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2874" y="2957423"/>
            <a:ext cx="641231" cy="698740"/>
          </a:xfrm>
          <a:prstGeom prst="rect">
            <a:avLst/>
          </a:prstGeom>
        </p:spPr>
      </p:pic>
      <p:pic>
        <p:nvPicPr>
          <p:cNvPr id="9" name="Graphic 8" descr="Checkbox Checked outline">
            <a:extLst>
              <a:ext uri="{FF2B5EF4-FFF2-40B4-BE49-F238E27FC236}">
                <a16:creationId xmlns:a16="http://schemas.microsoft.com/office/drawing/2014/main" id="{E800305F-D37A-8501-CC83-52AFB3B8EC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2873" y="3748178"/>
            <a:ext cx="641231" cy="698740"/>
          </a:xfrm>
          <a:prstGeom prst="rect">
            <a:avLst/>
          </a:prstGeom>
        </p:spPr>
      </p:pic>
      <p:pic>
        <p:nvPicPr>
          <p:cNvPr id="11" name="Graphic 10" descr="Checkbox Checked outline">
            <a:extLst>
              <a:ext uri="{FF2B5EF4-FFF2-40B4-BE49-F238E27FC236}">
                <a16:creationId xmlns:a16="http://schemas.microsoft.com/office/drawing/2014/main" id="{BB5D1792-9494-CD14-5AA0-C63C1D4A0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2874" y="4524555"/>
            <a:ext cx="641231" cy="69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113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DAE577-9DDB-EB52-12FC-039CD64C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5D06B0F-6949-FB9D-8C28-5B5390F3FF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974ED-C184-A1D0-45C8-EFA31DC2894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5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3FD441-05EC-76FF-DF0B-CD2847E5AC5A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85FBBA2-40FD-0486-4412-591A24147B22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063043-E170-B88E-354C-38F910F7CCBD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9D4D9D62-F80F-7236-DA78-8CBA6E35D6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B77E43-FC8D-E79E-D8C3-E497528FF5EF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Simulation Environment – Fluid Power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B89F2E-9C5A-06A8-5C5B-CC0E3875C31F}"/>
              </a:ext>
            </a:extLst>
          </p:cNvPr>
          <p:cNvSpPr txBox="1">
            <a:spLocks/>
          </p:cNvSpPr>
          <p:nvPr/>
        </p:nvSpPr>
        <p:spPr>
          <a:xfrm>
            <a:off x="381906" y="1434469"/>
            <a:ext cx="6877866" cy="456110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Simulation broken into “elements” and “nodes”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Elements represent physical phenomena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Nodes connect elements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Nodes record fluid data (temperature, pressure, flow)</a:t>
            </a:r>
          </a:p>
          <a:p>
            <a:pPr marL="0" indent="0">
              <a:buNone/>
            </a:pPr>
            <a:endParaRPr lang="en-US">
              <a:solidFill>
                <a:srgbClr val="09213B"/>
              </a:solidFill>
              <a:latin typeface="Times"/>
              <a:cs typeface="Time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2F854-3723-25EA-D16D-ABD45B59D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772" y="1899435"/>
            <a:ext cx="4655950" cy="390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855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C1C56-4B91-C0C7-9149-6D27B1E34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F20D5A1-32A2-BDA6-5AB1-F7729545C3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D93C2-95A3-43C6-70F6-B4C7F6F7F80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4EB999-8BC6-7083-FE0A-2FAB2598037E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60A4298-6AD1-154C-E2AF-543E7AFBECE0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A4FD4E0-DEB6-6C02-D63C-39CA2A7B2491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084193F6-3791-9251-A2BC-C252B30E50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526865-F2A8-C88A-B525-526F44C5062B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Fluid Power – Elements Polymorphism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EA4B93-1E6D-795C-9DBF-14E0990864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87" r="1"/>
          <a:stretch>
            <a:fillRect/>
          </a:stretch>
        </p:blipFill>
        <p:spPr bwMode="auto">
          <a:xfrm>
            <a:off x="2652481" y="1348200"/>
            <a:ext cx="6876878" cy="52701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761715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83B24-559D-346C-880F-9DC0EC6F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16A12F8-E169-F2D4-D5D2-68B3ADF0E7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4022C-2C81-C3E1-E21B-D460F4AE429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7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4C849C-B565-23B4-1B04-257B28F99312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69A6066-4C52-9E71-AE77-FCB625F60A9A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8C5028E-6298-ED90-5080-664814483D99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3667ADE9-5829-749B-C6A8-E4835A3DB9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D1CA8D-ADFF-08DE-F876-0F330F394B4D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Fluid Power – System Curve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83AE27E-64C3-9498-9E06-D81F07D4E3E6}"/>
              </a:ext>
            </a:extLst>
          </p:cNvPr>
          <p:cNvSpPr txBox="1">
            <a:spLocks/>
          </p:cNvSpPr>
          <p:nvPr/>
        </p:nvSpPr>
        <p:spPr>
          <a:xfrm>
            <a:off x="368415" y="1416198"/>
            <a:ext cx="11445005" cy="560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Calculate major and minor losses </a:t>
            </a:r>
          </a:p>
        </p:txBody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D280E663-D356-3D9C-83CB-DC31172CE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0323" y="1976239"/>
            <a:ext cx="5574562" cy="4160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6C01B7-9771-27C5-71EA-909C986268CE}"/>
                  </a:ext>
                </a:extLst>
              </p:cNvPr>
              <p:cNvSpPr txBox="1"/>
              <p:nvPr/>
            </p:nvSpPr>
            <p:spPr>
              <a:xfrm>
                <a:off x="-164099" y="1976239"/>
                <a:ext cx="6114422" cy="696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𝑚𝑗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6C01B7-9771-27C5-71EA-909C98626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4099" y="1976239"/>
                <a:ext cx="6114422" cy="6967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5A1044-3AC8-D7D9-E383-B772121512AC}"/>
                  </a:ext>
                </a:extLst>
              </p:cNvPr>
              <p:cNvSpPr txBox="1"/>
              <p:nvPr/>
            </p:nvSpPr>
            <p:spPr>
              <a:xfrm>
                <a:off x="-197067" y="2636327"/>
                <a:ext cx="6114422" cy="696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5A1044-3AC8-D7D9-E383-B77212151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7067" y="2636327"/>
                <a:ext cx="6114422" cy="6967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6122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43251-B7C9-EA7E-725F-1AA951F0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0F83825-283D-F056-580F-97CAE17C60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0C1C-E730-0FCD-BFA5-EE62BB59633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8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E3B432-9959-5EA6-CD42-EB6EEF4C25FB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17AA997-7D86-5DE7-46CE-EF401AD6BFAB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48B630-E7DC-1E15-2BD3-AE81759C54AC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014DA1D0-6236-A8AC-52CF-B3BC76FC4B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1DD1C5-EA57-23FC-6D93-61A653BA5D8B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Fluid Power – Dynamic Pumps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CB0A49-F810-C945-7D9D-61DBCC63380D}"/>
              </a:ext>
            </a:extLst>
          </p:cNvPr>
          <p:cNvSpPr txBox="1">
            <a:spLocks/>
          </p:cNvSpPr>
          <p:nvPr/>
        </p:nvSpPr>
        <p:spPr>
          <a:xfrm>
            <a:off x="368415" y="1416198"/>
            <a:ext cx="11445005" cy="560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Equation pulled from pump curve (head in m, flow in m^3/s)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BF2B80-B34C-BEA3-0094-578ADC2DA800}"/>
                  </a:ext>
                </a:extLst>
              </p:cNvPr>
              <p:cNvSpPr txBox="1"/>
              <p:nvPr/>
            </p:nvSpPr>
            <p:spPr>
              <a:xfrm>
                <a:off x="3033706" y="2101334"/>
                <a:ext cx="61144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=−241374⋅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−2.2726⋅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+19.105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BF2B80-B34C-BEA3-0094-578ADC2D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06" y="2101334"/>
                <a:ext cx="611442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6F178-2A63-404B-C7C7-3D55A2342C80}"/>
              </a:ext>
            </a:extLst>
          </p:cNvPr>
          <p:cNvSpPr txBox="1">
            <a:spLocks/>
          </p:cNvSpPr>
          <p:nvPr/>
        </p:nvSpPr>
        <p:spPr>
          <a:xfrm>
            <a:off x="368415" y="2622549"/>
            <a:ext cx="11445005" cy="11455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Pump ramp-up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Pump variable setpoint (for control with PLCs)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675661-448F-679B-F423-7003BE786C5D}"/>
                  </a:ext>
                </a:extLst>
              </p:cNvPr>
              <p:cNvSpPr txBox="1"/>
              <p:nvPr/>
            </p:nvSpPr>
            <p:spPr>
              <a:xfrm>
                <a:off x="3047163" y="3702394"/>
                <a:ext cx="6114422" cy="5032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 = 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𝑠𝑒𝑡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𝑙𝑎𝑠𝑡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𝑠𝑒𝑡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675661-448F-679B-F423-7003BE786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63" y="3702394"/>
                <a:ext cx="6114422" cy="5032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E6642ED9-651D-3338-77E3-E27B6DA067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8414" y="4414442"/>
                <a:ext cx="11445005" cy="20868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 anchorCtr="0" compatLnSpc="1"/>
              <a:lstStyle>
                <a:lvl1pPr marL="342900" marR="0" lvl="0" indent="-342900" algn="l" defTabSz="914400" rtl="0" eaLnBrk="1" fontAlgn="auto" hangingPunct="1">
                  <a:lnSpc>
                    <a:spcPct val="100000"/>
                  </a:lnSpc>
                  <a:spcBef>
                    <a:spcPts val="700"/>
                  </a:spcBef>
                  <a:spcAft>
                    <a:spcPts val="0"/>
                  </a:spcAft>
                  <a:buSzPct val="100000"/>
                  <a:buFont typeface="Arial"/>
                  <a:buChar char="•"/>
                  <a:tabLst/>
                  <a:defRPr lang="en-US" sz="2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1pPr>
                <a:lvl2pPr marL="742950" marR="0" lvl="1" indent="-285750" algn="l" defTabSz="914400" rtl="0" eaLnBrk="1" fontAlgn="auto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SzPct val="100000"/>
                  <a:buFont typeface="Arial"/>
                  <a:buChar char="–"/>
                  <a:tabLst/>
                  <a:defRPr lang="en-US" sz="24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SzPct val="100000"/>
                  <a:buFont typeface="Arial"/>
                  <a:buChar char="•"/>
                  <a:tabLst/>
                  <a:defRPr lang="en-US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SzPct val="100000"/>
                  <a:buFont typeface="Arial"/>
                  <a:buChar char="–"/>
                  <a:tabLst/>
                  <a:def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SzPct val="100000"/>
                  <a:buFont typeface="Arial"/>
                  <a:buChar char="»"/>
                  <a:tabLst/>
                  <a:def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5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:	0-1, pump curve scaler</a:t>
                </a:r>
              </a:p>
              <a:p>
                <a:pPr marL="0" indent="0">
                  <a:buNone/>
                  <a:tabLst>
                    <a:tab pos="9144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𝑠𝑒𝑡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:	0-1, pump set point</a:t>
                </a:r>
              </a:p>
              <a:p>
                <a:pPr marL="0" indent="0">
                  <a:buNone/>
                  <a:tabLst>
                    <a:tab pos="9144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𝑙𝑎𝑠𝑡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	0-1, last pump scaler before changing setpoint</a:t>
                </a:r>
              </a:p>
              <a:p>
                <a:pPr marL="0" indent="0">
                  <a:buNone/>
                  <a:tabLst>
                    <a:tab pos="9144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:	time since last setpoint </a:t>
                </a:r>
              </a:p>
              <a:p>
                <a:pPr marL="0" indent="0">
                  <a:buNone/>
                  <a:tabLst>
                    <a:tab pos="914400" algn="l"/>
                  </a:tabLst>
                </a:pPr>
                <a:endParaRPr lang="en-US">
                  <a:solidFill>
                    <a:srgbClr val="09213B"/>
                  </a:solidFill>
                  <a:latin typeface="Times"/>
                  <a:cs typeface="Times"/>
                </a:endParaRPr>
              </a:p>
              <a:p>
                <a:pPr marL="0" indent="0">
                  <a:buNone/>
                </a:pPr>
                <a:endParaRPr lang="en-US">
                  <a:solidFill>
                    <a:srgbClr val="09213B"/>
                  </a:solidFill>
                  <a:latin typeface="Times"/>
                  <a:cs typeface="Times"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E6642ED9-651D-3338-77E3-E27B6DA06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14" y="4414442"/>
                <a:ext cx="11445005" cy="2086841"/>
              </a:xfrm>
              <a:prstGeom prst="rect">
                <a:avLst/>
              </a:prstGeom>
              <a:blipFill>
                <a:blip r:embed="rId6"/>
                <a:stretch>
                  <a:fillRect t="-2924" b="-73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74385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C0180-103B-E9CD-AE0B-82670706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0C1ADB7-8B19-DDBC-2F72-3E7CCFE963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B4ACB-2510-4CCD-7938-EDA8A50617B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9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8D372E-968D-2047-3B8D-635EFC141224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F7A246B-0361-2844-2ED4-96E73DAC7C0F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0A6D1B5-995E-53B8-4111-436A7FD6878F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4441C918-0334-6441-F4EE-DBB6FC1C86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7B6519-C9DC-728B-2E28-7F6A07EF2F26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Fluid Power – Dynamic Pumps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580C3C-44F7-7384-ADA2-F41BAE14C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554" y="1434469"/>
            <a:ext cx="5760731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726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86DF0-A493-B3C8-AEE2-AA3E1047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C576A92-7CC3-6F09-719F-5EE73707B9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7601E-6B3B-7EC5-FA26-EF6F67CB624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10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11D2E1-1EFC-93FA-2628-E54183D14E32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670A93C-9D64-7D4C-285B-B3792A232D40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DEABF97-89A7-1CA1-E764-6F25DB726ECC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542249B0-AEB6-2EB2-611E-0F63F38EC0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3ADBFE-7D32-3150-1AB2-50E3D3E67930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Fluid Power – Dynamic Pumps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6FDE3-5E6F-E7FF-2CA9-F7F1BF2F5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176" y="1428865"/>
            <a:ext cx="4927487" cy="49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0851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312DD9-11C4-605D-E3E6-131DF63A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1BFEC5E-8587-15BE-A26B-03F1CEDB72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90BCC-9080-14B8-E19F-87A1534F1D3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11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82D161-BFB7-9CF0-222A-DA52CCD01BF7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2293301-4A15-187B-D84A-79D1393A8DA5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31F7321-B604-3B9E-2498-76E5D8CA6FB1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CBE5B849-D510-ECA0-BC32-6A0B3B554F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2D680D-E1D6-8A23-3B60-D2EF81FB0CDE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Fluid Power – Operating Point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D18FAA-FBAE-402E-293F-5902B34A6B12}"/>
              </a:ext>
            </a:extLst>
          </p:cNvPr>
          <p:cNvSpPr txBox="1">
            <a:spLocks/>
          </p:cNvSpPr>
          <p:nvPr/>
        </p:nvSpPr>
        <p:spPr>
          <a:xfrm>
            <a:off x="368415" y="1416198"/>
            <a:ext cx="11445005" cy="560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 err="1">
                <a:solidFill>
                  <a:srgbClr val="09213B"/>
                </a:solidFill>
                <a:latin typeface="Times"/>
                <a:cs typeface="Times"/>
              </a:rPr>
              <a:t>Scipy</a:t>
            </a: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 </a:t>
            </a:r>
            <a:r>
              <a:rPr lang="en-US" err="1">
                <a:solidFill>
                  <a:srgbClr val="09213B"/>
                </a:solidFill>
                <a:latin typeface="Times"/>
                <a:cs typeface="Times"/>
              </a:rPr>
              <a:t>Brentq</a:t>
            </a: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 (Brent’s Method)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79920005-EB1A-A192-D26D-2D530A215D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3810" y="2249436"/>
            <a:ext cx="5454214" cy="40710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0C6974-2A34-4BEE-674B-0651B612E853}"/>
                  </a:ext>
                </a:extLst>
              </p:cNvPr>
              <p:cNvSpPr txBox="1"/>
              <p:nvPr/>
            </p:nvSpPr>
            <p:spPr>
              <a:xfrm>
                <a:off x="5760813" y="1490520"/>
                <a:ext cx="6114422" cy="411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 − 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0C6974-2A34-4BEE-674B-0651B612E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13" y="1490520"/>
                <a:ext cx="6114422" cy="411395"/>
              </a:xfrm>
              <a:prstGeom prst="rect">
                <a:avLst/>
              </a:prstGeom>
              <a:blipFill>
                <a:blip r:embed="rId5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31890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FE006-E3B5-C006-D0A2-CB85EAAC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4F83408-F0E6-8C22-8113-32794C2E8B37}"/>
              </a:ext>
            </a:extLst>
          </p:cNvPr>
          <p:cNvSpPr txBox="1">
            <a:spLocks/>
          </p:cNvSpPr>
          <p:nvPr/>
        </p:nvSpPr>
        <p:spPr>
          <a:xfrm>
            <a:off x="368415" y="1416198"/>
            <a:ext cx="11445005" cy="49401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Discrete Thermal Mass Model</a:t>
            </a: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Fluid modelled as discrete masses “parcels”</a:t>
            </a:r>
          </a:p>
          <a:p>
            <a:pPr lvl="2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Total mass from volume</a:t>
            </a:r>
          </a:p>
          <a:p>
            <a:pPr lvl="2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Individual mass from n parcels</a:t>
            </a:r>
          </a:p>
          <a:p>
            <a:pPr lvl="2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Evenly distributed throughout model</a:t>
            </a: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Move via velocity calculated from flow</a:t>
            </a: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Heat transfer occurs in </a:t>
            </a:r>
            <a:r>
              <a:rPr lang="en-US" err="1">
                <a:solidFill>
                  <a:srgbClr val="09213B"/>
                </a:solidFill>
                <a:latin typeface="Times"/>
                <a:cs typeface="Times"/>
              </a:rPr>
              <a:t>DeviceThermal</a:t>
            </a: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 objects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6E0AB3-485F-507A-8653-B0B72B6F26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8F407-8341-0421-0B97-5198B88AFC9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12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85282C-DCDA-7CDD-8374-BE38E27F844A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26DB4E2-04D0-A8FB-22E1-C99571F8B142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2C4ACB9-15FC-6455-8E40-8224424EF025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339B1A16-A74E-A249-808F-3DB712B3A4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EA739-3589-D070-D372-81D8910A3B98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Thermal Mass Transport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A84C22-ABA8-8D38-8C59-424C674AB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277" y="1758257"/>
            <a:ext cx="4490122" cy="334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9785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C4C86-C4DF-D86A-D97E-19C40F04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6A5B22F-7811-5030-B3E1-20A4EECB2C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0920" y="1568597"/>
                <a:ext cx="5727585" cy="4940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 anchorCtr="0" compatLnSpc="1"/>
              <a:lstStyle>
                <a:lvl1pPr marL="342900" marR="0" lvl="0" indent="-342900" algn="l" defTabSz="914400" rtl="0" eaLnBrk="1" fontAlgn="auto" hangingPunct="1">
                  <a:lnSpc>
                    <a:spcPct val="100000"/>
                  </a:lnSpc>
                  <a:spcBef>
                    <a:spcPts val="700"/>
                  </a:spcBef>
                  <a:spcAft>
                    <a:spcPts val="0"/>
                  </a:spcAft>
                  <a:buSzPct val="100000"/>
                  <a:buFont typeface="Arial"/>
                  <a:buChar char="•"/>
                  <a:tabLst/>
                  <a:defRPr lang="en-US" sz="2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1pPr>
                <a:lvl2pPr marL="742950" marR="0" lvl="1" indent="-285750" algn="l" defTabSz="914400" rtl="0" eaLnBrk="1" fontAlgn="auto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SzPct val="100000"/>
                  <a:buFont typeface="Arial"/>
                  <a:buChar char="–"/>
                  <a:tabLst/>
                  <a:defRPr lang="en-US" sz="24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SzPct val="100000"/>
                  <a:buFont typeface="Arial"/>
                  <a:buChar char="•"/>
                  <a:tabLst/>
                  <a:defRPr lang="en-US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SzPct val="100000"/>
                  <a:buFont typeface="Arial"/>
                  <a:buChar char="–"/>
                  <a:tabLst/>
                  <a:def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SzPct val="100000"/>
                  <a:buFont typeface="Arial"/>
                  <a:buChar char="»"/>
                  <a:tabLst/>
                  <a:def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5pPr>
              </a:lstStyle>
              <a:p>
                <a:pPr marL="0" indent="0" algn="ctr">
                  <a:buNone/>
                </a:pPr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Runtime Calculated:</a:t>
                </a:r>
              </a:p>
              <a:p>
                <a:pPr marL="0" indent="0" algn="ctr">
                  <a:buNone/>
                </a:pPr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Velocity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rgbClr val="09213B"/>
                  </a:solidFill>
                  <a:latin typeface="Times"/>
                  <a:cs typeface="Times"/>
                </a:endParaRPr>
              </a:p>
              <a:p>
                <a:pPr marL="0" indent="0" algn="ctr">
                  <a:buNone/>
                </a:pPr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New element (as applicable)</a:t>
                </a:r>
              </a:p>
              <a:p>
                <a:pPr marL="0" indent="0" algn="ctr">
                  <a:buNone/>
                </a:pPr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Position change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rgbClr val="09213B"/>
                  </a:solidFill>
                  <a:latin typeface="Times"/>
                  <a:cs typeface="Times"/>
                </a:endParaRPr>
              </a:p>
              <a:p>
                <a:pPr marL="0" indent="0" algn="ctr">
                  <a:buNone/>
                </a:pPr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Temperature change…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6A5B22F-7811-5030-B3E1-20A4EECB2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20" y="1568597"/>
                <a:ext cx="5727585" cy="4940151"/>
              </a:xfrm>
              <a:prstGeom prst="rect">
                <a:avLst/>
              </a:prstGeom>
              <a:blipFill>
                <a:blip r:embed="rId3"/>
                <a:stretch>
                  <a:fillRect t="-12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97479ADB-7594-5A52-2B54-16A2E9213A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E6339-588E-79D8-BA32-BDDC4F92B13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13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886279-8DFF-1A70-3361-4F843E0F785F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88121723-B87E-C2FA-DFDF-11174CB66EFB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B68C0F-1C3E-A0D3-89C6-355EA757055F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6B51A701-2322-7778-C014-AF56B9F24F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EAACAF-D777-B96D-92A4-EF86E4942F20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Thermal Mass Transport - Parcels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55D76E-2E4A-797B-A517-C7D5F448F937}"/>
              </a:ext>
            </a:extLst>
          </p:cNvPr>
          <p:cNvSpPr txBox="1">
            <a:spLocks/>
          </p:cNvSpPr>
          <p:nvPr/>
        </p:nvSpPr>
        <p:spPr>
          <a:xfrm>
            <a:off x="520815" y="1568598"/>
            <a:ext cx="5727585" cy="49401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Known information:</a:t>
            </a:r>
          </a:p>
          <a:p>
            <a:pPr marL="0" indent="0" algn="ctr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Volume, mass</a:t>
            </a:r>
          </a:p>
          <a:p>
            <a:pPr marL="0" indent="0" algn="ctr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Element</a:t>
            </a:r>
          </a:p>
          <a:p>
            <a:pPr marL="0" indent="0" algn="ctr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Position within element</a:t>
            </a:r>
          </a:p>
          <a:p>
            <a:pPr marL="0" indent="0" algn="ctr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276108094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9ACB3-C928-4E04-B752-DD99ECEB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EFE92A5-8CD9-F01C-040B-CF7ED96515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6781D-FC7F-58E7-CF07-4E9AA0020EA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14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9B24DE-F6C0-F8F3-ACA4-6011AB8AC1A9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FBA3C8C-3A3B-CA56-8713-61942FE6689A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E96AFC-89FB-AFDD-5BAD-D96A7171665C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F85B6703-2A4B-9F44-B052-C233897840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233B01-517A-15D2-213E-FCA1A517C3F9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Thermal Mass Transport - Thermals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0E84B11-B2DC-F5D1-4364-41773B50C9E7}"/>
              </a:ext>
            </a:extLst>
          </p:cNvPr>
          <p:cNvSpPr txBox="1">
            <a:spLocks/>
          </p:cNvSpPr>
          <p:nvPr/>
        </p:nvSpPr>
        <p:spPr>
          <a:xfrm>
            <a:off x="520815" y="1568599"/>
            <a:ext cx="5727585" cy="32230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Thermal model stores list of parcels within specific elements (i.e. heat exchangers)</a:t>
            </a:r>
          </a:p>
          <a:p>
            <a:r>
              <a:rPr lang="en-US" err="1">
                <a:solidFill>
                  <a:srgbClr val="09213B"/>
                </a:solidFill>
                <a:latin typeface="Times"/>
                <a:cs typeface="Times"/>
              </a:rPr>
              <a:t>getHeatFlow</a:t>
            </a: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 calculates heat flow for any given time difference between parcels and </a:t>
            </a:r>
            <a:r>
              <a:rPr lang="en-US" err="1">
                <a:solidFill>
                  <a:srgbClr val="09213B"/>
                </a:solidFill>
                <a:latin typeface="Times"/>
                <a:cs typeface="Times"/>
              </a:rPr>
              <a:t>ThermalDevice</a:t>
            </a: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 object using: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55EB94-EBA3-7588-3B81-9BA9A0416B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984" t="50000" r="33177" b="-967"/>
          <a:stretch>
            <a:fillRect/>
          </a:stretch>
        </p:blipFill>
        <p:spPr>
          <a:xfrm>
            <a:off x="7930247" y="1568598"/>
            <a:ext cx="3740938" cy="3029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FE77C-5CFE-EE0F-CC38-B4E065B88938}"/>
                  </a:ext>
                </a:extLst>
              </p:cNvPr>
              <p:cNvSpPr txBox="1"/>
              <p:nvPr/>
            </p:nvSpPr>
            <p:spPr>
              <a:xfrm>
                <a:off x="3046095" y="4791608"/>
                <a:ext cx="6115050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 ⋅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 ⋅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FE77C-5CFE-EE0F-CC38-B4E065B8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095" y="4791608"/>
                <a:ext cx="6115050" cy="658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A9EB6A-D6B7-5AE9-585B-7A6F59769833}"/>
                  </a:ext>
                </a:extLst>
              </p:cNvPr>
              <p:cNvSpPr txBox="1"/>
              <p:nvPr/>
            </p:nvSpPr>
            <p:spPr>
              <a:xfrm>
                <a:off x="-1078289" y="5643345"/>
                <a:ext cx="6115050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𝑐𝑜𝑛𝑑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A9EB6A-D6B7-5AE9-585B-7A6F59769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78289" y="5643345"/>
                <a:ext cx="6115050" cy="6182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96A7AA-3E4B-5903-C9EA-A568F5C7B3FC}"/>
                  </a:ext>
                </a:extLst>
              </p:cNvPr>
              <p:cNvSpPr txBox="1"/>
              <p:nvPr/>
            </p:nvSpPr>
            <p:spPr>
              <a:xfrm>
                <a:off x="7155241" y="5639291"/>
                <a:ext cx="6646544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𝑐𝑜𝑛𝑣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h𝐴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96A7AA-3E4B-5903-C9EA-A568F5C7B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241" y="5639291"/>
                <a:ext cx="6646544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76255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E8878-7D1A-8067-24FC-C9526BED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F5EACA-EC4D-F372-EF60-4246E43166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35837-576B-3668-56AA-059172BB9F6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15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56115A-66B7-5082-F31F-3E510C56CB13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DA4441A-8429-5FE8-459B-C55B2AE4392D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37804BC-208F-BDBF-5653-E705CCA39BAA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4E2F7755-B68C-48BD-1761-EF73CFB123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027E71-F314-8398-5B3F-1405D806916B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Modbus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86497C-2917-E3A6-BEB6-B9D63A90D430}"/>
              </a:ext>
            </a:extLst>
          </p:cNvPr>
          <p:cNvSpPr txBox="1">
            <a:spLocks/>
          </p:cNvSpPr>
          <p:nvPr/>
        </p:nvSpPr>
        <p:spPr>
          <a:xfrm>
            <a:off x="391419" y="2129316"/>
            <a:ext cx="11061584" cy="32230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r>
              <a:rPr lang="en-US" err="1">
                <a:solidFill>
                  <a:srgbClr val="09213B"/>
                </a:solidFill>
                <a:latin typeface="Times"/>
                <a:cs typeface="Times"/>
              </a:rPr>
              <a:t>DeviceParallel</a:t>
            </a: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 class +</a:t>
            </a:r>
            <a:br>
              <a:rPr lang="en-US">
                <a:solidFill>
                  <a:srgbClr val="09213B"/>
                </a:solidFill>
                <a:latin typeface="Times"/>
                <a:cs typeface="Times"/>
              </a:rPr>
            </a:br>
            <a:r>
              <a:rPr lang="en-US" err="1">
                <a:solidFill>
                  <a:srgbClr val="09213B"/>
                </a:solidFill>
                <a:latin typeface="Times"/>
                <a:cs typeface="Times"/>
              </a:rPr>
              <a:t>DeviceSensor</a:t>
            </a: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 sends data to ir</a:t>
            </a:r>
            <a:br>
              <a:rPr lang="en-US">
                <a:solidFill>
                  <a:srgbClr val="09213B"/>
                </a:solidFill>
                <a:latin typeface="Times"/>
                <a:cs typeface="Times"/>
              </a:rPr>
            </a:b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addresses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Holding registers changed by</a:t>
            </a:r>
            <a:br>
              <a:rPr lang="en-US">
                <a:solidFill>
                  <a:srgbClr val="09213B"/>
                </a:solidFill>
                <a:latin typeface="Times"/>
                <a:cs typeface="Times"/>
              </a:rPr>
            </a:b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PLCs </a:t>
            </a: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Holding register callback</a:t>
            </a:r>
          </a:p>
          <a:p>
            <a:endParaRPr lang="en-US">
              <a:solidFill>
                <a:srgbClr val="09213B"/>
              </a:solidFill>
              <a:latin typeface="Times"/>
              <a:cs typeface="Time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4A89EA-49FF-236D-CC20-812329BC5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958" y="1908917"/>
            <a:ext cx="6571070" cy="255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6036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A93F91-9A27-5E73-542C-930AA5C0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6D1D1B8-5833-E61C-BE6B-F93F5A30BC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>
                <a:latin typeface="Times" panose="02020603050405020304"/>
                <a:cs typeface="Times" panose="02020603050405020304"/>
              </a:rPr>
              <a:t> Establishing PLC and Modbus Communication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3BBF-6031-17DB-E37F-AC8613E07A4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9EF29A-47D5-32E2-4DD1-06CF175C4DBA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BE80968-A099-44EE-F34B-42CBB0086412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153DA1-E0B2-DC78-0AE6-362EB22AFC4F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548A25C8-2F79-1954-FA99-01F8329F2D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DD0953C-A77D-C6E4-90B3-2319CE58D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09" y="1502985"/>
            <a:ext cx="4646862" cy="3842036"/>
          </a:xfrm>
        </p:spPr>
        <p:txBody>
          <a:bodyPr anchor="t"/>
          <a:lstStyle/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  <a:latin typeface="+mj-lt"/>
              </a:rPr>
              <a:t>Software Tool: </a:t>
            </a:r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  <a:latin typeface="+mj-lt"/>
              </a:rPr>
              <a:t>Connected Components Workbench (Rockwell Automation)</a:t>
            </a:r>
          </a:p>
          <a:p>
            <a:pPr marL="0" indent="0">
              <a:buNone/>
            </a:pPr>
            <a:endParaRPr lang="en-US" sz="1000">
              <a:solidFill>
                <a:schemeClr val="tx2"/>
              </a:solidFill>
              <a:latin typeface="+mj-lt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  <a:latin typeface="+mj-lt"/>
              </a:rPr>
              <a:t>Instruction Blocks Used:</a:t>
            </a:r>
            <a:r>
              <a:rPr lang="en-US" sz="2000">
                <a:solidFill>
                  <a:schemeClr val="tx2"/>
                </a:solidFill>
                <a:latin typeface="+mj-lt"/>
              </a:rPr>
              <a:t> </a:t>
            </a:r>
            <a:endParaRPr lang="en-US" sz="2000">
              <a:solidFill>
                <a:schemeClr val="tx2"/>
              </a:solidFill>
              <a:latin typeface="+mj-lt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  <a:latin typeface="+mj-lt"/>
              </a:rPr>
              <a:t>  MSGMODBUS2</a:t>
            </a:r>
            <a:endParaRPr lang="en-US" sz="2000">
              <a:solidFill>
                <a:schemeClr val="tx2"/>
              </a:solidFill>
              <a:latin typeface="+mj-lt"/>
              <a:ea typeface="Calibri"/>
              <a:cs typeface="Calibri"/>
            </a:endParaRPr>
          </a:p>
          <a:p>
            <a:pPr lvl="1">
              <a:spcAft>
                <a:spcPts val="500"/>
              </a:spcAft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Read/Write </a:t>
            </a:r>
          </a:p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  <a:latin typeface="+mj-lt"/>
              </a:rPr>
              <a:t>Key Parameters for Modbus: </a:t>
            </a:r>
            <a:endParaRPr lang="en-US" sz="2000" b="1">
              <a:solidFill>
                <a:schemeClr val="tx2"/>
              </a:solidFill>
              <a:latin typeface="+mj-lt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  <a:latin typeface="+mj-lt"/>
              </a:rPr>
              <a:t>	IP Address: 192.168.10.120</a:t>
            </a:r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  <a:latin typeface="+mj-lt"/>
              </a:rPr>
              <a:t>	Port: 5020</a:t>
            </a:r>
          </a:p>
          <a:p>
            <a:pPr marL="0" indent="0">
              <a:buNone/>
            </a:pPr>
            <a:endParaRPr lang="en-US" sz="2000">
              <a:solidFill>
                <a:schemeClr val="tx2"/>
              </a:solidFill>
              <a:latin typeface="+mj-lt"/>
              <a:ea typeface="Calibri"/>
              <a:cs typeface="Calibri"/>
            </a:endParaRPr>
          </a:p>
          <a:p>
            <a:pPr>
              <a:buFontTx/>
              <a:buChar char="-"/>
            </a:pPr>
            <a:endParaRPr lang="en-US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F41A26-9D29-CEF9-ACA0-2703E9E222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61" t="40659" r="49803" b="16117"/>
          <a:stretch>
            <a:fillRect/>
          </a:stretch>
        </p:blipFill>
        <p:spPr>
          <a:xfrm>
            <a:off x="5848460" y="1719119"/>
            <a:ext cx="5236492" cy="383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8317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694A0-5D1A-B762-14E7-84DE8E220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D12FDB4-7E9F-C0A9-3767-B711F8958C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>
                <a:latin typeface="Times" panose="02020603050405020304"/>
                <a:cs typeface="Times" panose="02020603050405020304"/>
              </a:rPr>
              <a:t> PLC and Modbus Communication: Writing Registers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C4177-7806-CAAC-0562-E8A8A8FA64C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17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67CC99-9626-1D47-9DE2-FE7E42BEF68B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DB242AE-8E29-1D50-1B9D-45B1CC3291AE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8B97F9-2D79-A273-7EE5-F2257E65B802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F373F049-7E33-F752-3ADA-5651A82705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514675-7179-4D4E-A28D-5CB6BFA50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385172"/>
            <a:ext cx="10240804" cy="515374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463FB9-56A6-E3F6-EA2F-B53F99A8D438}"/>
              </a:ext>
            </a:extLst>
          </p:cNvPr>
          <p:cNvSpPr/>
          <p:nvPr/>
        </p:nvSpPr>
        <p:spPr>
          <a:xfrm>
            <a:off x="6213668" y="3271605"/>
            <a:ext cx="1104785" cy="289061"/>
          </a:xfrm>
          <a:prstGeom prst="rect">
            <a:avLst/>
          </a:prstGeom>
          <a:solidFill>
            <a:srgbClr val="FFB4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92845-92E5-1E5D-6639-3AC28555A406}"/>
              </a:ext>
            </a:extLst>
          </p:cNvPr>
          <p:cNvSpPr/>
          <p:nvPr/>
        </p:nvSpPr>
        <p:spPr>
          <a:xfrm>
            <a:off x="6213668" y="4335529"/>
            <a:ext cx="1104785" cy="289061"/>
          </a:xfrm>
          <a:prstGeom prst="rect">
            <a:avLst/>
          </a:prstGeom>
          <a:solidFill>
            <a:srgbClr val="FFB4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043948-8756-94E8-19F9-70A997527E36}"/>
              </a:ext>
            </a:extLst>
          </p:cNvPr>
          <p:cNvSpPr/>
          <p:nvPr/>
        </p:nvSpPr>
        <p:spPr>
          <a:xfrm>
            <a:off x="6213667" y="4047982"/>
            <a:ext cx="1104785" cy="289061"/>
          </a:xfrm>
          <a:prstGeom prst="rect">
            <a:avLst/>
          </a:prstGeom>
          <a:solidFill>
            <a:srgbClr val="FFB4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271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40317-7EFF-00FB-5135-2F165616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6C67A6-9A3F-C910-8B7F-DCC5EBC907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F865A-8A41-9789-3DC7-0D24C880AE6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18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FA1A7A-1001-F8B3-E04F-1D1F662D57B9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AC5163F-2302-8972-B990-7B47503B1FB3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431AFB-13EB-DA56-80F3-3C441A7CA775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6730E7BA-ABF3-E965-4490-689FA87A3E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96448A-CFFD-E961-D9AB-41CA3278DD52}"/>
              </a:ext>
            </a:extLst>
          </p:cNvPr>
          <p:cNvSpPr txBox="1"/>
          <p:nvPr/>
        </p:nvSpPr>
        <p:spPr>
          <a:xfrm>
            <a:off x="175896" y="205200"/>
            <a:ext cx="682361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HMI Integration: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03F19-8AF3-A3E2-DC5C-0F62322AB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556" y="1641830"/>
            <a:ext cx="7277217" cy="46318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28763F-A482-3301-8726-429800036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10" y="3403600"/>
            <a:ext cx="2514073" cy="2223267"/>
          </a:xfrm>
        </p:spPr>
        <p:txBody>
          <a:bodyPr anchor="t"/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solidFill>
                  <a:schemeClr val="tx2"/>
                </a:solidFill>
                <a:latin typeface="+mj-lt"/>
              </a:rPr>
              <a:t>Inputs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Pump Load 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Engine Load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PID Enable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Auto Mode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Setpoint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02751E-5E21-37C2-28B0-FA1FC3BF123F}"/>
              </a:ext>
            </a:extLst>
          </p:cNvPr>
          <p:cNvSpPr txBox="1">
            <a:spLocks/>
          </p:cNvSpPr>
          <p:nvPr/>
        </p:nvSpPr>
        <p:spPr>
          <a:xfrm>
            <a:off x="597310" y="2111867"/>
            <a:ext cx="4101690" cy="1169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  <a:latin typeface="+mj-lt"/>
              </a:rPr>
              <a:t>Software Tool: </a:t>
            </a:r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  <a:latin typeface="+mj-lt"/>
              </a:rPr>
              <a:t>Ignition Designer Launcher</a:t>
            </a:r>
          </a:p>
        </p:txBody>
      </p:sp>
    </p:spTree>
    <p:extLst>
      <p:ext uri="{BB962C8B-B14F-4D97-AF65-F5344CB8AC3E}">
        <p14:creationId xmlns:p14="http://schemas.microsoft.com/office/powerpoint/2010/main" val="11173962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4B789-EF96-8C45-2681-09AE13CD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E4B57B-D041-CE50-06FE-05E6F1CAB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1F187-85FA-83F1-E57B-4ADD1BF3651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19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6B5F17-C2A1-22C1-E49D-009926B0D2A1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E28B9A4-021C-E323-C08C-D73F85416514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AF40C4-797F-EE8A-306E-8DB4F3972E8E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C777794A-6FF8-4E90-9A78-3715F57EA3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B34812-71E5-7A30-868D-03740696B9F9}"/>
              </a:ext>
            </a:extLst>
          </p:cNvPr>
          <p:cNvSpPr txBox="1"/>
          <p:nvPr/>
        </p:nvSpPr>
        <p:spPr>
          <a:xfrm>
            <a:off x="175896" y="205200"/>
            <a:ext cx="682361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HMI Integration: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8D8FA35-18A1-FEDF-CAA4-BDBD78335E7D}"/>
              </a:ext>
            </a:extLst>
          </p:cNvPr>
          <p:cNvSpPr txBox="1">
            <a:spLocks/>
          </p:cNvSpPr>
          <p:nvPr/>
        </p:nvSpPr>
        <p:spPr>
          <a:xfrm>
            <a:off x="609601" y="1641829"/>
            <a:ext cx="3266955" cy="37817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  <a:latin typeface="+mj-lt"/>
              </a:rPr>
              <a:t>Outputs</a:t>
            </a:r>
          </a:p>
          <a:p>
            <a:pPr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Engine 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Inlet/Outlet Temperature 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Inlet/Outlet Pressure</a:t>
            </a:r>
          </a:p>
          <a:p>
            <a:pPr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Saltwater Cooler 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Inlet/Outlet Temperature 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Inlet/Outlet Pressure</a:t>
            </a:r>
          </a:p>
          <a:p>
            <a:pPr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Pump Speed </a:t>
            </a:r>
          </a:p>
          <a:p>
            <a:pPr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Pump Discharge Pressure </a:t>
            </a:r>
            <a:endParaRPr lang="en-US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70C106-A5D4-DA67-DDA2-30764AAB12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556" y="1641830"/>
            <a:ext cx="7277217" cy="463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9376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D3F2E-BA1E-1FE3-A2A7-4EF309230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4F37C6-9B19-1F59-C93F-55F7584D44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07D5D-8AD9-3DCC-0F43-729C087C885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20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38E6B9-C62C-99DA-78B7-0164C200A5BD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AAA62E0-1202-71FC-854E-2C9FE9B02C29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81F7F5-6935-6E5B-99C1-676DD87836A8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49775080-EB18-B61B-D4E7-F15F475511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D4EA0B-E807-5B74-C468-A2CBB6B31EC3}"/>
              </a:ext>
            </a:extLst>
          </p:cNvPr>
          <p:cNvSpPr txBox="1"/>
          <p:nvPr/>
        </p:nvSpPr>
        <p:spPr>
          <a:xfrm>
            <a:off x="175896" y="205200"/>
            <a:ext cx="856170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HMI Integration: Data Manipulation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E7B8B8-CC06-9834-6932-7F22D6C3B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27" y="1339082"/>
            <a:ext cx="5314402" cy="5130722"/>
          </a:xfrm>
        </p:spPr>
        <p:txBody>
          <a:bodyPr anchor="t"/>
          <a:lstStyle/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EB3FB-78C6-4524-5078-BBB1E2D1C533}"/>
              </a:ext>
            </a:extLst>
          </p:cNvPr>
          <p:cNvSpPr txBox="1">
            <a:spLocks/>
          </p:cNvSpPr>
          <p:nvPr/>
        </p:nvSpPr>
        <p:spPr>
          <a:xfrm>
            <a:off x="1125284" y="1917377"/>
            <a:ext cx="2844795" cy="36015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  <a:latin typeface="+mj-lt"/>
              </a:rPr>
              <a:t>Data Types</a:t>
            </a:r>
          </a:p>
          <a:p>
            <a:pPr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Integer (INT) </a:t>
            </a:r>
          </a:p>
          <a:p>
            <a:pPr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Real (REAL)</a:t>
            </a:r>
          </a:p>
          <a:p>
            <a:pPr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Word (WORD)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b="1">
                <a:solidFill>
                  <a:schemeClr val="tx2"/>
                </a:solidFill>
                <a:latin typeface="+mj-lt"/>
              </a:rPr>
              <a:t>Math Function Blocks </a:t>
            </a:r>
            <a:endParaRPr lang="en-US" sz="2000" b="1">
              <a:solidFill>
                <a:schemeClr val="tx2"/>
              </a:solidFill>
              <a:latin typeface="+mj-lt"/>
              <a:ea typeface="Calibri"/>
              <a:cs typeface="Calibri"/>
            </a:endParaRPr>
          </a:p>
          <a:p>
            <a:pPr>
              <a:spcBef>
                <a:spcPts val="100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Add/Subtract </a:t>
            </a:r>
          </a:p>
          <a:p>
            <a:pPr>
              <a:spcBef>
                <a:spcPts val="100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Division 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b="1">
                <a:solidFill>
                  <a:schemeClr val="tx2"/>
                </a:solidFill>
                <a:latin typeface="+mj-lt"/>
              </a:rPr>
              <a:t>Move Block</a:t>
            </a:r>
            <a:endParaRPr lang="en-US" sz="2000" b="1">
              <a:solidFill>
                <a:schemeClr val="tx2"/>
              </a:solidFill>
              <a:latin typeface="+mj-lt"/>
              <a:ea typeface="Calibri"/>
              <a:cs typeface="Calibri"/>
            </a:endParaRPr>
          </a:p>
          <a:p>
            <a:pPr>
              <a:spcBef>
                <a:spcPts val="1000"/>
              </a:spcBef>
              <a:buFontTx/>
              <a:buChar char="-"/>
            </a:pPr>
            <a:r>
              <a:rPr lang="en-US" sz="2000">
                <a:solidFill>
                  <a:schemeClr val="tx2"/>
                </a:solidFill>
                <a:latin typeface="+mj-lt"/>
              </a:rPr>
              <a:t>Relocates Data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20A5C3-764B-CEBE-3E81-411ED3BC41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" t="25361" r="9316" b="16254"/>
          <a:stretch>
            <a:fillRect/>
          </a:stretch>
        </p:blipFill>
        <p:spPr>
          <a:xfrm>
            <a:off x="4128859" y="2102727"/>
            <a:ext cx="702491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7081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2C8DA-9AC4-96FB-3EAB-431C28EA1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89B9CD4-8CE5-3285-F431-847A45D699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66639-12A6-46B9-A0BC-442458E9A17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21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047173-730D-25F5-8935-C2AEF50BEA7E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B063BDD-0A18-58CE-D827-B0E25F2BC12C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0C6477-9CA0-6EB3-D61A-A171354AAEA0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BA26A45A-7C59-198A-889A-E7B32C5F29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26EEE6-69FE-DE0F-1C11-1CB513FF8BD1}"/>
              </a:ext>
            </a:extLst>
          </p:cNvPr>
          <p:cNvSpPr txBox="1"/>
          <p:nvPr/>
        </p:nvSpPr>
        <p:spPr>
          <a:xfrm>
            <a:off x="175896" y="205200"/>
            <a:ext cx="682361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PID Construction and Tuning</a:t>
            </a:r>
          </a:p>
        </p:txBody>
      </p:sp>
      <p:sp>
        <p:nvSpPr>
          <p:cNvPr id="23" name="Content Placeholder 17">
            <a:extLst>
              <a:ext uri="{FF2B5EF4-FFF2-40B4-BE49-F238E27FC236}">
                <a16:creationId xmlns:a16="http://schemas.microsoft.com/office/drawing/2014/main" id="{688B32B2-15AC-237D-3D9A-00959A573D80}"/>
              </a:ext>
            </a:extLst>
          </p:cNvPr>
          <p:cNvSpPr txBox="1">
            <a:spLocks/>
          </p:cNvSpPr>
          <p:nvPr/>
        </p:nvSpPr>
        <p:spPr>
          <a:xfrm>
            <a:off x="684128" y="4376444"/>
            <a:ext cx="2916682" cy="13975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Font typeface="Arial"/>
              <a:buNone/>
            </a:pPr>
            <a:r>
              <a:rPr lang="en-US" sz="1900">
                <a:solidFill>
                  <a:schemeClr val="tx2"/>
                </a:solidFill>
                <a:latin typeface="+mj-lt"/>
              </a:rPr>
              <a:t>Outputs: 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1900">
                <a:solidFill>
                  <a:schemeClr val="tx2"/>
                </a:solidFill>
                <a:latin typeface="+mj-lt"/>
              </a:rPr>
              <a:t>Control Variable (REAL)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1900">
                <a:solidFill>
                  <a:schemeClr val="tx2"/>
                </a:solidFill>
                <a:latin typeface="+mj-lt"/>
              </a:rPr>
              <a:t>Absolute Error (REAL)</a:t>
            </a:r>
          </a:p>
          <a:p>
            <a:pPr>
              <a:spcBef>
                <a:spcPts val="0"/>
              </a:spcBef>
              <a:buFontTx/>
              <a:buChar char="-"/>
            </a:pPr>
            <a:endParaRPr lang="en-US" sz="1900">
              <a:solidFill>
                <a:schemeClr val="tx2"/>
              </a:solidFill>
              <a:latin typeface="+mj-lt"/>
              <a:ea typeface="Calibri"/>
              <a:cs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5A45525-9640-7EFD-FCBC-C39E29BFB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1" t="28498" r="10017" b="5323"/>
          <a:stretch>
            <a:fillRect/>
          </a:stretch>
        </p:blipFill>
        <p:spPr>
          <a:xfrm>
            <a:off x="4063998" y="1748396"/>
            <a:ext cx="7518400" cy="3517900"/>
          </a:xfrm>
          <a:prstGeom prst="rect">
            <a:avLst/>
          </a:prstGeom>
        </p:spPr>
      </p:pic>
      <p:sp>
        <p:nvSpPr>
          <p:cNvPr id="3" name="Content Placeholder 17">
            <a:extLst>
              <a:ext uri="{FF2B5EF4-FFF2-40B4-BE49-F238E27FC236}">
                <a16:creationId xmlns:a16="http://schemas.microsoft.com/office/drawing/2014/main" id="{B4A62664-C6F3-C55A-A5DD-5F6C8277BD7E}"/>
              </a:ext>
            </a:extLst>
          </p:cNvPr>
          <p:cNvSpPr txBox="1">
            <a:spLocks/>
          </p:cNvSpPr>
          <p:nvPr/>
        </p:nvSpPr>
        <p:spPr>
          <a:xfrm>
            <a:off x="684127" y="1745386"/>
            <a:ext cx="2916682" cy="13975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Font typeface="Arial"/>
              <a:buNone/>
            </a:pPr>
            <a:r>
              <a:rPr lang="en-US" sz="1900">
                <a:solidFill>
                  <a:schemeClr val="tx2"/>
                </a:solidFill>
                <a:latin typeface="+mj-lt"/>
              </a:rPr>
              <a:t>Inputs: 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1900">
                <a:solidFill>
                  <a:schemeClr val="tx2"/>
                </a:solidFill>
                <a:latin typeface="+mj-lt"/>
              </a:rPr>
              <a:t>PID Enable (BOOL)</a:t>
            </a:r>
            <a:endParaRPr lang="en-US" sz="1900">
              <a:solidFill>
                <a:schemeClr val="tx2"/>
              </a:solidFill>
              <a:latin typeface="+mj-lt"/>
              <a:ea typeface="Calibri"/>
              <a:cs typeface="Calibri"/>
            </a:endParaRP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1900">
                <a:solidFill>
                  <a:schemeClr val="tx2"/>
                </a:solidFill>
                <a:latin typeface="+mj-lt"/>
              </a:rPr>
              <a:t>Process Variable (REAL)</a:t>
            </a:r>
            <a:endParaRPr lang="en-US" sz="1900">
              <a:solidFill>
                <a:schemeClr val="tx2"/>
              </a:solidFill>
              <a:latin typeface="+mj-lt"/>
              <a:ea typeface="Calibri"/>
              <a:cs typeface="Calibri"/>
            </a:endParaRP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1900">
                <a:solidFill>
                  <a:schemeClr val="tx2"/>
                </a:solidFill>
                <a:latin typeface="+mj-lt"/>
                <a:ea typeface="Calibri"/>
                <a:cs typeface="Calibri"/>
              </a:rPr>
              <a:t>Setpoint (REAL)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1900">
                <a:solidFill>
                  <a:schemeClr val="tx2"/>
                </a:solidFill>
                <a:latin typeface="+mj-lt"/>
                <a:ea typeface="Calibri"/>
                <a:cs typeface="Calibri"/>
              </a:rPr>
              <a:t>Auto Mode (BOOL)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1900">
                <a:solidFill>
                  <a:schemeClr val="tx2"/>
                </a:solidFill>
                <a:latin typeface="+mj-lt"/>
                <a:ea typeface="Calibri"/>
                <a:cs typeface="Calibri"/>
              </a:rPr>
              <a:t>CV Input (REAL)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1900">
                <a:solidFill>
                  <a:schemeClr val="tx2"/>
                </a:solidFill>
                <a:latin typeface="+mj-lt"/>
                <a:ea typeface="Calibri"/>
                <a:cs typeface="Calibri"/>
              </a:rPr>
              <a:t>PID Gains 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en-US" sz="1900">
                <a:solidFill>
                  <a:schemeClr val="tx2"/>
                </a:solidFill>
                <a:latin typeface="+mj-lt"/>
                <a:ea typeface="Calibri"/>
                <a:cs typeface="Calibri"/>
              </a:rPr>
              <a:t>Control (BOOL)</a:t>
            </a:r>
          </a:p>
          <a:p>
            <a:pPr>
              <a:spcBef>
                <a:spcPts val="0"/>
              </a:spcBef>
              <a:buFontTx/>
              <a:buChar char="-"/>
            </a:pPr>
            <a:endParaRPr lang="en-US" sz="1900">
              <a:solidFill>
                <a:schemeClr val="tx2"/>
              </a:solidFill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27654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E2748-5F42-CF9D-BCFD-A30B63D2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6C1B3E-C807-83F7-03CA-36832A5E9F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A9470-1FBF-FD02-AF7F-3C428F3B3C25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22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19D3C5-C4B3-0FD6-EE52-0D3AF187BC60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204C20D-8BDF-46D4-8EC7-A8D706458589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A33804-0158-9E5F-B1B1-1720A0082475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6E247100-2C0E-B5E7-2DF1-4E1CB1ABC7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31AB92-FC80-46AD-D284-16900F8045AC}"/>
              </a:ext>
            </a:extLst>
          </p:cNvPr>
          <p:cNvSpPr txBox="1"/>
          <p:nvPr/>
        </p:nvSpPr>
        <p:spPr>
          <a:xfrm>
            <a:off x="175896" y="205200"/>
            <a:ext cx="682361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PID Construction and Tuning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BEC71E-523B-875E-9E1B-2F1E5861C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79" b="2208"/>
          <a:stretch>
            <a:fillRect/>
          </a:stretch>
        </p:blipFill>
        <p:spPr>
          <a:xfrm>
            <a:off x="4694026" y="1973978"/>
            <a:ext cx="6941270" cy="26206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17">
                <a:extLst>
                  <a:ext uri="{FF2B5EF4-FFF2-40B4-BE49-F238E27FC236}">
                    <a16:creationId xmlns:a16="http://schemas.microsoft.com/office/drawing/2014/main" id="{25119A5A-C4ED-6A59-0C4B-F8FAD2471C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744" y="1951398"/>
                <a:ext cx="3295045" cy="4099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 anchorCtr="0" compatLnSpc="1"/>
              <a:lstStyle>
                <a:lvl1pPr marL="342900" marR="0" lvl="0" indent="-342900" algn="l" defTabSz="914400" rtl="0" eaLnBrk="1" fontAlgn="auto" hangingPunct="1">
                  <a:lnSpc>
                    <a:spcPct val="100000"/>
                  </a:lnSpc>
                  <a:spcBef>
                    <a:spcPts val="700"/>
                  </a:spcBef>
                  <a:spcAft>
                    <a:spcPts val="0"/>
                  </a:spcAft>
                  <a:buSzPct val="100000"/>
                  <a:buFont typeface="Arial"/>
                  <a:buChar char="•"/>
                  <a:tabLst/>
                  <a:defRPr lang="en-US" sz="2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1pPr>
                <a:lvl2pPr marL="742950" marR="0" lvl="1" indent="-285750" algn="l" defTabSz="914400" rtl="0" eaLnBrk="1" fontAlgn="auto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SzPct val="100000"/>
                  <a:buFont typeface="Arial"/>
                  <a:buChar char="–"/>
                  <a:tabLst/>
                  <a:defRPr lang="en-US" sz="24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SzPct val="100000"/>
                  <a:buFont typeface="Arial"/>
                  <a:buChar char="•"/>
                  <a:tabLst/>
                  <a:defRPr lang="en-US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SzPct val="100000"/>
                  <a:buFont typeface="Arial"/>
                  <a:buChar char="–"/>
                  <a:tabLst/>
                  <a:def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SzPct val="100000"/>
                  <a:buFont typeface="Arial"/>
                  <a:buChar char="»"/>
                  <a:tabLst/>
                  <a:def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5pPr>
              </a:lstStyle>
              <a:p>
                <a:pPr marL="0" indent="0">
                  <a:buFont typeface="Arial"/>
                  <a:buNone/>
                </a:pPr>
                <a:r>
                  <a:rPr lang="en-US" sz="1900">
                    <a:solidFill>
                      <a:schemeClr val="tx2"/>
                    </a:solidFill>
                    <a:latin typeface="+mj-lt"/>
                  </a:rPr>
                  <a:t>PID Gains: </a:t>
                </a:r>
              </a:p>
              <a:p>
                <a:pPr marL="0" indent="0">
                  <a:buFont typeface="Arial"/>
                  <a:buNone/>
                </a:pPr>
                <a:r>
                  <a:rPr lang="en-US" sz="1900">
                    <a:solidFill>
                      <a:schemeClr val="tx2"/>
                    </a:solidFill>
                    <a:latin typeface="+mj-lt"/>
                  </a:rPr>
                  <a:t>Controller Gain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900">
                    <a:solidFill>
                      <a:schemeClr val="tx2"/>
                    </a:solidFill>
                    <a:latin typeface="+mj-lt"/>
                  </a:rPr>
                  <a:t>)</a:t>
                </a:r>
              </a:p>
              <a:p>
                <a:pPr>
                  <a:buFontTx/>
                  <a:buChar char="-"/>
                </a:pPr>
                <a:r>
                  <a:rPr lang="en-US" sz="1900">
                    <a:solidFill>
                      <a:schemeClr val="tx2"/>
                    </a:solidFill>
                    <a:latin typeface="+mj-lt"/>
                  </a:rPr>
                  <a:t>Improve Response Time</a:t>
                </a:r>
              </a:p>
              <a:p>
                <a:pPr>
                  <a:buFontTx/>
                  <a:buChar char="-"/>
                </a:pPr>
                <a:r>
                  <a:rPr lang="en-US" sz="1900">
                    <a:solidFill>
                      <a:schemeClr val="tx2"/>
                    </a:solidFill>
                    <a:latin typeface="+mj-lt"/>
                  </a:rPr>
                  <a:t>Reduce Steady State Error</a:t>
                </a:r>
              </a:p>
              <a:p>
                <a:pPr marL="0" indent="0">
                  <a:buNone/>
                </a:pPr>
                <a:r>
                  <a:rPr lang="en-US" sz="1900">
                    <a:solidFill>
                      <a:schemeClr val="tx2"/>
                    </a:solidFill>
                    <a:latin typeface="+mj-lt"/>
                  </a:rPr>
                  <a:t>Intergral Time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19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900">
                  <a:solidFill>
                    <a:schemeClr val="tx2"/>
                  </a:solidFill>
                  <a:latin typeface="+mj-lt"/>
                </a:endParaRPr>
              </a:p>
              <a:p>
                <a:pPr>
                  <a:buFontTx/>
                  <a:buChar char="-"/>
                </a:pPr>
                <a:r>
                  <a:rPr lang="en-US" sz="1900">
                    <a:solidFill>
                      <a:schemeClr val="tx2"/>
                    </a:solidFill>
                    <a:latin typeface="+mj-lt"/>
                  </a:rPr>
                  <a:t>Reduces Overshoot</a:t>
                </a:r>
              </a:p>
              <a:p>
                <a:pPr>
                  <a:buFontTx/>
                  <a:buChar char="-"/>
                </a:pPr>
                <a:r>
                  <a:rPr lang="en-US" sz="1900">
                    <a:solidFill>
                      <a:schemeClr val="tx2"/>
                    </a:solidFill>
                    <a:latin typeface="+mj-lt"/>
                  </a:rPr>
                  <a:t>Reduce Steady State Error </a:t>
                </a:r>
              </a:p>
            </p:txBody>
          </p:sp>
        </mc:Choice>
        <mc:Fallback xmlns="">
          <p:sp>
            <p:nvSpPr>
              <p:cNvPr id="24" name="Content Placeholder 17">
                <a:extLst>
                  <a:ext uri="{FF2B5EF4-FFF2-40B4-BE49-F238E27FC236}">
                    <a16:creationId xmlns:a16="http://schemas.microsoft.com/office/drawing/2014/main" id="{25119A5A-C4ED-6A59-0C4B-F8FAD247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744" y="1951398"/>
                <a:ext cx="3295045" cy="4099487"/>
              </a:xfrm>
              <a:prstGeom prst="rect">
                <a:avLst/>
              </a:prstGeom>
              <a:blipFill>
                <a:blip r:embed="rId5"/>
                <a:stretch>
                  <a:fillRect l="-1852" t="-7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A03D727-111F-1558-7343-7DFDF8303E6B}"/>
              </a:ext>
            </a:extLst>
          </p:cNvPr>
          <p:cNvSpPr txBox="1"/>
          <p:nvPr/>
        </p:nvSpPr>
        <p:spPr>
          <a:xfrm>
            <a:off x="5839365" y="4882095"/>
            <a:ext cx="463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Process Variable (Engine Outlet Temperature)</a:t>
            </a:r>
          </a:p>
        </p:txBody>
      </p:sp>
    </p:spTree>
    <p:extLst>
      <p:ext uri="{BB962C8B-B14F-4D97-AF65-F5344CB8AC3E}">
        <p14:creationId xmlns:p14="http://schemas.microsoft.com/office/powerpoint/2010/main" val="131988231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FBE03-FBEB-E17A-C16F-8898B5C90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867B9C-E95D-F1C1-FEAA-663A2D3A94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07EA2-36CE-940E-E251-71C8DFF954C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23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596FEB-F333-7F6F-0509-94D969800A32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089F6E7-2EBC-7880-4DAD-368181CD1A8B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5F97145-1E00-8703-856A-C8175C34E2A0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3796F045-7CA3-7835-054E-F8B917E223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F9B893-2AB2-423E-5A30-A44A24C28D7D}"/>
              </a:ext>
            </a:extLst>
          </p:cNvPr>
          <p:cNvSpPr txBox="1"/>
          <p:nvPr/>
        </p:nvSpPr>
        <p:spPr>
          <a:xfrm>
            <a:off x="175896" y="205200"/>
            <a:ext cx="682361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Future Work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DB5291-D8FB-1EDA-C94F-AC7486200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65" y="1434469"/>
            <a:ext cx="10963834" cy="4561107"/>
          </a:xfrm>
        </p:spPr>
        <p:txBody>
          <a:bodyPr anchor="t"/>
          <a:lstStyle/>
          <a:p>
            <a:r>
              <a:rPr lang="en-US">
                <a:solidFill>
                  <a:schemeClr val="tx2"/>
                </a:solidFill>
              </a:rPr>
              <a:t>Branched flow</a:t>
            </a:r>
          </a:p>
          <a:p>
            <a:r>
              <a:rPr lang="en-US">
                <a:solidFill>
                  <a:schemeClr val="tx2"/>
                </a:solidFill>
              </a:rPr>
              <a:t>Valves</a:t>
            </a:r>
          </a:p>
          <a:p>
            <a:r>
              <a:rPr lang="en-US">
                <a:solidFill>
                  <a:schemeClr val="tx2"/>
                </a:solidFill>
              </a:rPr>
              <a:t>Multi-loop design (i.e. HT loop and saltwater cooling loop)</a:t>
            </a:r>
          </a:p>
          <a:p>
            <a:r>
              <a:rPr lang="en-US">
                <a:solidFill>
                  <a:schemeClr val="tx2"/>
                </a:solidFill>
              </a:rPr>
              <a:t>Spawning multiple clones of plant process threads</a:t>
            </a:r>
          </a:p>
        </p:txBody>
      </p:sp>
    </p:spTree>
    <p:extLst>
      <p:ext uri="{BB962C8B-B14F-4D97-AF65-F5344CB8AC3E}">
        <p14:creationId xmlns:p14="http://schemas.microsoft.com/office/powerpoint/2010/main" val="168150530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23D51-E084-8815-99F5-07B8BB538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1223DC-CE0F-B07A-8FBF-BFE22BE6F9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B6C0F-9776-6B69-F1E2-850F5217841D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24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97ADA0-9B8B-8AA9-C58A-588782D187C7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6654B10-AC06-373D-8D6C-B7CD697657E0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E05A79-F298-21E5-91E7-AB663A381790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B7DEE7C9-F79D-ECD7-5C78-50CD9DCEFD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4B7503-4B97-3606-D426-E61502242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395" y="1471619"/>
            <a:ext cx="11169050" cy="1067409"/>
          </a:xfrm>
        </p:spPr>
        <p:txBody>
          <a:bodyPr anchor="t"/>
          <a:lstStyle/>
          <a:p>
            <a:pPr marL="0" indent="0">
              <a:buNone/>
            </a:pPr>
            <a:r>
              <a:rPr lang="en-US" sz="3000">
                <a:solidFill>
                  <a:schemeClr val="tx2"/>
                </a:solidFill>
                <a:latin typeface="Times"/>
                <a:cs typeface="Times"/>
              </a:rPr>
              <a:t>Questions?</a:t>
            </a:r>
            <a:endParaRPr lang="en-US" sz="3000">
              <a:solidFill>
                <a:schemeClr val="tx2"/>
              </a:solidFill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17D6DA-BF18-F3C8-EFB1-79276105F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517" y="3756924"/>
            <a:ext cx="1868805" cy="186880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1A141A-22D3-1518-E494-7CB22A356272}"/>
              </a:ext>
            </a:extLst>
          </p:cNvPr>
          <p:cNvSpPr txBox="1">
            <a:spLocks/>
          </p:cNvSpPr>
          <p:nvPr/>
        </p:nvSpPr>
        <p:spPr>
          <a:xfrm>
            <a:off x="506395" y="3247662"/>
            <a:ext cx="11169050" cy="10674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Font typeface="Arial"/>
              <a:buNone/>
            </a:pPr>
            <a:r>
              <a:rPr lang="en-US" sz="2000">
                <a:solidFill>
                  <a:schemeClr val="tx2"/>
                </a:solidFill>
                <a:latin typeface="Times"/>
                <a:cs typeface="Times"/>
              </a:rPr>
              <a:t>For codebase access:</a:t>
            </a:r>
            <a:endParaRPr lang="en-US" sz="200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46643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82935-B0F1-EB92-7B90-8A6A5F24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30EAB1-4E2B-000A-5F2E-1F8D97C3ED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" panose="02020603050405020304"/>
              <a:ea typeface="+mn-ea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110B4-8380-80A9-4306-B4E14B1E824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12A305-C63D-4EF0-9C9A-417C6F0B631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3BE636-DBAD-BAC9-0B83-CCC640B97615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F7ADBAF-5ED0-3E44-7A7E-08F777DE902B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D35953-5BE6-D7C1-59B6-7B20AA8F0923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73B689D0-44BB-D94F-633D-7BBD2AAEDF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B4C2FE-FACD-5B0A-8665-98489EF43ADA}"/>
              </a:ext>
            </a:extLst>
          </p:cNvPr>
          <p:cNvSpPr txBox="1"/>
          <p:nvPr/>
        </p:nvSpPr>
        <p:spPr>
          <a:xfrm>
            <a:off x="175896" y="205200"/>
            <a:ext cx="6823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anose="02020603050405020304"/>
                <a:ea typeface="+mn-ea"/>
                <a:cs typeface="Times" panose="02020603050405020304"/>
              </a:rPr>
              <a:t>Overview – Flow Diagram</a:t>
            </a:r>
          </a:p>
        </p:txBody>
      </p:sp>
      <p:pic>
        <p:nvPicPr>
          <p:cNvPr id="16" name="Picture 15" descr="A black electronic device with many ports&#10;&#10;AI-generated content may be incorrect.">
            <a:extLst>
              <a:ext uri="{FF2B5EF4-FFF2-40B4-BE49-F238E27FC236}">
                <a16:creationId xmlns:a16="http://schemas.microsoft.com/office/drawing/2014/main" id="{7F7F1B4E-9C36-96AF-DFED-13CBF3F81D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765" y="2528123"/>
            <a:ext cx="2647604" cy="2647604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0A4DE53-AC2B-B49F-5492-6DEE05F4E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2254" y="1298557"/>
            <a:ext cx="1329257" cy="2219530"/>
          </a:xfrm>
        </p:spPr>
        <p:txBody>
          <a:bodyPr anchor="t"/>
          <a:lstStyle/>
          <a:p>
            <a:pPr marL="0" lvl="0" indent="0">
              <a:buNone/>
            </a:pPr>
            <a:r>
              <a:rPr lang="en-US" sz="1600">
                <a:solidFill>
                  <a:srgbClr val="09213B"/>
                </a:solidFill>
                <a:latin typeface="Times"/>
                <a:cs typeface="Times"/>
              </a:rPr>
              <a:t>“Pump”</a:t>
            </a:r>
          </a:p>
          <a:p>
            <a:pPr marL="0" lvl="0" indent="0">
              <a:buNone/>
            </a:pPr>
            <a:r>
              <a:rPr lang="en-US" sz="1600">
                <a:solidFill>
                  <a:srgbClr val="09213B"/>
                </a:solidFill>
                <a:latin typeface="Times"/>
                <a:cs typeface="Times"/>
              </a:rPr>
              <a:t>“Sensor”</a:t>
            </a:r>
          </a:p>
          <a:p>
            <a:pPr marL="0" lvl="0" indent="0">
              <a:buNone/>
            </a:pPr>
            <a:r>
              <a:rPr lang="en-US" sz="1600">
                <a:solidFill>
                  <a:srgbClr val="09213B"/>
                </a:solidFill>
                <a:latin typeface="Times"/>
                <a:cs typeface="Times"/>
              </a:rPr>
              <a:t>“Valve” etc.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7BA58FC-F88D-8C0E-8F9C-A8E427C238E5}"/>
              </a:ext>
            </a:extLst>
          </p:cNvPr>
          <p:cNvGrpSpPr/>
          <p:nvPr/>
        </p:nvGrpSpPr>
        <p:grpSpPr>
          <a:xfrm>
            <a:off x="175896" y="3380786"/>
            <a:ext cx="2954413" cy="1143000"/>
            <a:chOff x="1382247" y="3432736"/>
            <a:chExt cx="2954413" cy="1143000"/>
          </a:xfrm>
        </p:grpSpPr>
        <p:pic>
          <p:nvPicPr>
            <p:cNvPr id="2060" name="Picture 12" descr="Lenovo dumps classic keyboard on new ThinkPad laptops - CNET">
              <a:extLst>
                <a:ext uri="{FF2B5EF4-FFF2-40B4-BE49-F238E27FC236}">
                  <a16:creationId xmlns:a16="http://schemas.microsoft.com/office/drawing/2014/main" id="{6566B08B-3B7B-FB32-8824-69B62BBB5F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2247" y="3432736"/>
              <a:ext cx="15240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44F5200-2F13-23EC-A6D9-582B1F820F6E}"/>
                </a:ext>
              </a:extLst>
            </p:cNvPr>
            <p:cNvGrpSpPr/>
            <p:nvPr/>
          </p:nvGrpSpPr>
          <p:grpSpPr>
            <a:xfrm>
              <a:off x="3462900" y="3687072"/>
              <a:ext cx="873760" cy="571500"/>
              <a:chOff x="7772400" y="3629324"/>
              <a:chExt cx="873760" cy="571500"/>
            </a:xfrm>
          </p:grpSpPr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2AE219A8-7EB2-1617-3108-52BBB50E4F9A}"/>
                  </a:ext>
                </a:extLst>
              </p:cNvPr>
              <p:cNvSpPr/>
              <p:nvPr/>
            </p:nvSpPr>
            <p:spPr>
              <a:xfrm>
                <a:off x="7772400" y="3629324"/>
                <a:ext cx="873760" cy="28007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7E8E69A9-BAD6-FE88-9C3B-1FD07403E5B7}"/>
                  </a:ext>
                </a:extLst>
              </p:cNvPr>
              <p:cNvSpPr/>
              <p:nvPr/>
            </p:nvSpPr>
            <p:spPr>
              <a:xfrm rot="10800000">
                <a:off x="7772400" y="3920752"/>
                <a:ext cx="873760" cy="280072"/>
              </a:xfrm>
              <a:prstGeom prst="rightArrow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7BDB79B-3434-CD84-3D06-8E86AF568736}"/>
              </a:ext>
            </a:extLst>
          </p:cNvPr>
          <p:cNvGrpSpPr/>
          <p:nvPr/>
        </p:nvGrpSpPr>
        <p:grpSpPr>
          <a:xfrm rot="1800000">
            <a:off x="6188765" y="4443948"/>
            <a:ext cx="3255701" cy="1565612"/>
            <a:chOff x="7945120" y="3129683"/>
            <a:chExt cx="3637278" cy="174910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6050673-5597-7CD8-FDD7-D2EDB7199459}"/>
                </a:ext>
              </a:extLst>
            </p:cNvPr>
            <p:cNvGrpSpPr/>
            <p:nvPr/>
          </p:nvGrpSpPr>
          <p:grpSpPr>
            <a:xfrm>
              <a:off x="7945120" y="3718486"/>
              <a:ext cx="873760" cy="571500"/>
              <a:chOff x="7772400" y="3629324"/>
              <a:chExt cx="873760" cy="571500"/>
            </a:xfrm>
          </p:grpSpPr>
          <p:sp>
            <p:nvSpPr>
              <p:cNvPr id="18" name="Arrow: Right 17">
                <a:extLst>
                  <a:ext uri="{FF2B5EF4-FFF2-40B4-BE49-F238E27FC236}">
                    <a16:creationId xmlns:a16="http://schemas.microsoft.com/office/drawing/2014/main" id="{3A0EDFA9-B6D6-86CD-7A8C-DD98700AA234}"/>
                  </a:ext>
                </a:extLst>
              </p:cNvPr>
              <p:cNvSpPr/>
              <p:nvPr/>
            </p:nvSpPr>
            <p:spPr>
              <a:xfrm>
                <a:off x="7772400" y="3629324"/>
                <a:ext cx="873760" cy="28007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212D5242-DAE0-B50E-05B1-5CB43A8FE4E2}"/>
                  </a:ext>
                </a:extLst>
              </p:cNvPr>
              <p:cNvSpPr/>
              <p:nvPr/>
            </p:nvSpPr>
            <p:spPr>
              <a:xfrm rot="10800000">
                <a:off x="7772400" y="3920752"/>
                <a:ext cx="873760" cy="280072"/>
              </a:xfrm>
              <a:prstGeom prst="rightArrow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pic>
          <p:nvPicPr>
            <p:cNvPr id="2066" name="Picture 18" descr="Overview of the Allen-Bradley Family | PLC Technician">
              <a:extLst>
                <a:ext uri="{FF2B5EF4-FFF2-40B4-BE49-F238E27FC236}">
                  <a16:creationId xmlns:a16="http://schemas.microsoft.com/office/drawing/2014/main" id="{56C0DD39-08F0-ACC3-6855-029FD63704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7459" y="3129683"/>
              <a:ext cx="2414939" cy="1749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9C3830B-B463-B6B7-E1E8-C48E66F3152C}"/>
              </a:ext>
            </a:extLst>
          </p:cNvPr>
          <p:cNvGrpSpPr/>
          <p:nvPr/>
        </p:nvGrpSpPr>
        <p:grpSpPr>
          <a:xfrm>
            <a:off x="6582530" y="1506924"/>
            <a:ext cx="2647604" cy="1664393"/>
            <a:chOff x="7788881" y="1194950"/>
            <a:chExt cx="3226510" cy="2028317"/>
          </a:xfrm>
        </p:grpSpPr>
        <p:pic>
          <p:nvPicPr>
            <p:cNvPr id="1026" name="Picture 2" descr="Buy a Raspberry Pi 5 – Raspberry Pi">
              <a:extLst>
                <a:ext uri="{FF2B5EF4-FFF2-40B4-BE49-F238E27FC236}">
                  <a16:creationId xmlns:a16="http://schemas.microsoft.com/office/drawing/2014/main" id="{4D88D21B-B00C-9C97-382C-AAFFC4BCD8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9411" y="1194950"/>
              <a:ext cx="1935980" cy="1456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D62FE5C-2ADA-8A80-4FB1-FF01D78F5292}"/>
                </a:ext>
              </a:extLst>
            </p:cNvPr>
            <p:cNvGrpSpPr/>
            <p:nvPr/>
          </p:nvGrpSpPr>
          <p:grpSpPr>
            <a:xfrm rot="19715520">
              <a:off x="7788881" y="2651767"/>
              <a:ext cx="1243143" cy="571500"/>
              <a:chOff x="7772400" y="3629324"/>
              <a:chExt cx="873760" cy="571500"/>
            </a:xfrm>
          </p:grpSpPr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8B47503B-55BA-88B8-BEBE-EBCBA5432A20}"/>
                  </a:ext>
                </a:extLst>
              </p:cNvPr>
              <p:cNvSpPr/>
              <p:nvPr/>
            </p:nvSpPr>
            <p:spPr>
              <a:xfrm>
                <a:off x="7772400" y="3629324"/>
                <a:ext cx="873760" cy="28007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ED30F507-D2D4-52E3-C33E-EFC0A7900816}"/>
                  </a:ext>
                </a:extLst>
              </p:cNvPr>
              <p:cNvSpPr/>
              <p:nvPr/>
            </p:nvSpPr>
            <p:spPr>
              <a:xfrm rot="10800000">
                <a:off x="7772400" y="3920752"/>
                <a:ext cx="873760" cy="280072"/>
              </a:xfrm>
              <a:prstGeom prst="rightArrow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DE59680-2920-D61F-9587-802C18585E70}"/>
              </a:ext>
            </a:extLst>
          </p:cNvPr>
          <p:cNvGrpSpPr/>
          <p:nvPr/>
        </p:nvGrpSpPr>
        <p:grpSpPr>
          <a:xfrm>
            <a:off x="3694768" y="1263395"/>
            <a:ext cx="2379600" cy="2142861"/>
            <a:chOff x="4901119" y="1315345"/>
            <a:chExt cx="2379600" cy="2142861"/>
          </a:xfrm>
        </p:grpSpPr>
        <p:pic>
          <p:nvPicPr>
            <p:cNvPr id="2062" name="Picture 14" descr="SCADA/HMI – Demo applications &amp; examples">
              <a:extLst>
                <a:ext uri="{FF2B5EF4-FFF2-40B4-BE49-F238E27FC236}">
                  <a16:creationId xmlns:a16="http://schemas.microsoft.com/office/drawing/2014/main" id="{BC4C80AA-D710-E53A-7D5D-2C28A444F5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1119" y="1315345"/>
              <a:ext cx="2379600" cy="1622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0FA6B96C-58A8-0B8C-DD22-F0442FA4BE61}"/>
                </a:ext>
              </a:extLst>
            </p:cNvPr>
            <p:cNvSpPr/>
            <p:nvPr/>
          </p:nvSpPr>
          <p:spPr>
            <a:xfrm rot="16200000">
              <a:off x="5847437" y="3074689"/>
              <a:ext cx="486962" cy="28007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9D795D8-81E8-F0EE-5D15-8F9BB62D6835}"/>
              </a:ext>
            </a:extLst>
          </p:cNvPr>
          <p:cNvGrpSpPr/>
          <p:nvPr/>
        </p:nvGrpSpPr>
        <p:grpSpPr>
          <a:xfrm>
            <a:off x="4219939" y="4389959"/>
            <a:ext cx="1329257" cy="2155010"/>
            <a:chOff x="5426290" y="4441909"/>
            <a:chExt cx="1329257" cy="2155010"/>
          </a:xfrm>
        </p:grpSpPr>
        <p:pic>
          <p:nvPicPr>
            <p:cNvPr id="2064" name="Picture 16" descr="How to Use Inductive Sensor: Pinouts, Specs, and Examples | Cirkit Designer">
              <a:extLst>
                <a:ext uri="{FF2B5EF4-FFF2-40B4-BE49-F238E27FC236}">
                  <a16:creationId xmlns:a16="http://schemas.microsoft.com/office/drawing/2014/main" id="{DB5EDAA8-0D72-3A1C-D73C-06E8477936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6290" y="5267662"/>
              <a:ext cx="1329257" cy="1329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E0E7F2CD-8493-8EC3-7F29-5DBB0F36E169}"/>
                </a:ext>
              </a:extLst>
            </p:cNvPr>
            <p:cNvSpPr/>
            <p:nvPr/>
          </p:nvSpPr>
          <p:spPr>
            <a:xfrm rot="16200000">
              <a:off x="5737843" y="4738753"/>
              <a:ext cx="873760" cy="280072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D563AB-1409-47AD-90F3-0D5FDCCDC7D5}"/>
              </a:ext>
            </a:extLst>
          </p:cNvPr>
          <p:cNvGrpSpPr/>
          <p:nvPr/>
        </p:nvGrpSpPr>
        <p:grpSpPr>
          <a:xfrm>
            <a:off x="9141810" y="2667346"/>
            <a:ext cx="2647604" cy="1969708"/>
            <a:chOff x="7406360" y="4888292"/>
            <a:chExt cx="2647604" cy="196970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8EC79BD-640D-2C70-DE91-40719D1487FD}"/>
                </a:ext>
              </a:extLst>
            </p:cNvPr>
            <p:cNvSpPr/>
            <p:nvPr/>
          </p:nvSpPr>
          <p:spPr>
            <a:xfrm>
              <a:off x="7406360" y="4888292"/>
              <a:ext cx="2647604" cy="1969708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068" name="Picture 20" descr="Steam Power Plant - an overview | ScienceDirect Topics">
              <a:extLst>
                <a:ext uri="{FF2B5EF4-FFF2-40B4-BE49-F238E27FC236}">
                  <a16:creationId xmlns:a16="http://schemas.microsoft.com/office/drawing/2014/main" id="{6B030B25-CF01-1568-8164-F4F984B57C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0152" y="5087251"/>
              <a:ext cx="2360020" cy="1634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95211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5EB32-AD35-F6BD-6B71-24A75EDB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330FEB-BE47-5EFD-0708-CD3CCC52A5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641"/>
          <a:stretch>
            <a:fillRect/>
          </a:stretch>
        </p:blipFill>
        <p:spPr bwMode="auto">
          <a:xfrm>
            <a:off x="7252485" y="2526784"/>
            <a:ext cx="4560935" cy="32790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15FA266-560C-CE79-3372-6EED07A652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D470A-B197-D57F-3B16-426B12CBAEC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7BEF78-7BEC-849E-89DF-AE1C9F6E2C86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3E52F52-2D3A-22AA-5803-AF095C39B373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969398D-A7EB-DA1D-E4CC-3A5801588A29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CABB00A6-3C9B-4F9D-FDC5-D1C9AB55E2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263AC-5AB0-15D8-B5AB-8A4EE2574000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Thermal Mass Transport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886B2D-0CDF-0A82-FDB1-1E6F763A91CA}"/>
              </a:ext>
            </a:extLst>
          </p:cNvPr>
          <p:cNvSpPr txBox="1">
            <a:spLocks/>
          </p:cNvSpPr>
          <p:nvPr/>
        </p:nvSpPr>
        <p:spPr>
          <a:xfrm>
            <a:off x="368415" y="1416198"/>
            <a:ext cx="11445005" cy="49401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Decision Making: How to model temperatures? Options: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Thermal Network Model</a:t>
            </a: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Heat transfers functionally with flow from element to</a:t>
            </a:r>
            <a:br>
              <a:rPr lang="en-US">
                <a:solidFill>
                  <a:srgbClr val="09213B"/>
                </a:solidFill>
                <a:latin typeface="Times"/>
                <a:cs typeface="Times"/>
              </a:rPr>
            </a:b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element</a:t>
            </a: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Does not reflect transport time easily</a:t>
            </a:r>
          </a:p>
          <a:p>
            <a:pPr lvl="2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Heat flow “queue”</a:t>
            </a:r>
          </a:p>
          <a:p>
            <a:pPr lvl="1"/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Heat exchanger flux: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EDD99C-2DEE-B88F-41A1-9757B4EFB35D}"/>
                  </a:ext>
                </a:extLst>
              </p:cNvPr>
              <p:cNvSpPr txBox="1"/>
              <p:nvPr/>
            </p:nvSpPr>
            <p:spPr>
              <a:xfrm>
                <a:off x="3033706" y="4559318"/>
                <a:ext cx="6114422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=ṁ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EDD99C-2DEE-B88F-41A1-9757B4EFB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06" y="4559318"/>
                <a:ext cx="6114422" cy="390748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768663-9C1C-74B2-8386-F5070A91B927}"/>
                  </a:ext>
                </a:extLst>
              </p:cNvPr>
              <p:cNvSpPr txBox="1"/>
              <p:nvPr/>
            </p:nvSpPr>
            <p:spPr>
              <a:xfrm>
                <a:off x="3047163" y="5025400"/>
                <a:ext cx="61144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 = 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768663-9C1C-74B2-8386-F5070A91B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63" y="5025400"/>
                <a:ext cx="6114422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47627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3A581-979C-54F1-DE2D-D3232CB4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6E3CB0-8FD1-F0BD-02F3-CED0E5BDDB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91B72-77CF-C578-6DB6-53E6E5D36BB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27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A61868-1A15-21E8-CAA1-8D9ACBF9BED4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8229A4AE-D8E7-A3F3-0EBB-A67D32089930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A129C4-DABD-E9EC-9B87-6409C4562688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98C21304-0653-C12A-EDCE-52D8BE0BBA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365B55-159C-13FE-089B-EE0155AE26F5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Fluid Power – Dynamic Pumps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13FAB3-819E-3B46-9D2A-EA0BD56DC1A1}"/>
              </a:ext>
            </a:extLst>
          </p:cNvPr>
          <p:cNvSpPr txBox="1">
            <a:spLocks/>
          </p:cNvSpPr>
          <p:nvPr/>
        </p:nvSpPr>
        <p:spPr>
          <a:xfrm>
            <a:off x="368415" y="1416198"/>
            <a:ext cx="11445005" cy="560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“Variable” output pump chosen for system control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B2C10-025D-6EEB-84EE-2D0975E69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755" y="2249436"/>
            <a:ext cx="5544324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073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2A169-1BA1-F88D-998C-D927FC5E5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B0FED0-3DD2-7928-F20D-F6E241EE03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4F8C8-F32C-7551-1C9D-E40E1B4DD8F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28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DE8E94-37AE-BC18-B168-D4F3CB3A9021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353EFBB-7A5E-C4E2-9699-E68CEBF5EB79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3A5757-BB88-7F6B-0B9F-FD192445A218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0422A36B-DAB1-E7C7-3630-B680A31A29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0F867E-D5C3-FC23-3851-5657CE1E1AC4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Fluid Power – Head Loss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2D53F91-505A-43B2-948E-C18BE253DF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905" y="1434469"/>
                <a:ext cx="11445005" cy="4561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 anchorCtr="0" compatLnSpc="1"/>
              <a:lstStyle>
                <a:lvl1pPr marL="342900" marR="0" lvl="0" indent="-342900" algn="l" defTabSz="914400" rtl="0" eaLnBrk="1" fontAlgn="auto" hangingPunct="1">
                  <a:lnSpc>
                    <a:spcPct val="100000"/>
                  </a:lnSpc>
                  <a:spcBef>
                    <a:spcPts val="700"/>
                  </a:spcBef>
                  <a:spcAft>
                    <a:spcPts val="0"/>
                  </a:spcAft>
                  <a:buSzPct val="100000"/>
                  <a:buFont typeface="Arial"/>
                  <a:buChar char="•"/>
                  <a:tabLst/>
                  <a:defRPr lang="en-US" sz="2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1pPr>
                <a:lvl2pPr marL="742950" marR="0" lvl="1" indent="-285750" algn="l" defTabSz="914400" rtl="0" eaLnBrk="1" fontAlgn="auto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SzPct val="100000"/>
                  <a:buFont typeface="Arial"/>
                  <a:buChar char="–"/>
                  <a:tabLst/>
                  <a:defRPr lang="en-US" sz="24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2pPr>
                <a:lvl3pPr marL="1143000" marR="0" lvl="2" indent="-228600" algn="l" defTabSz="914400" rtl="0" eaLnBrk="1" fontAlgn="auto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  <a:buSzPct val="100000"/>
                  <a:buFont typeface="Arial"/>
                  <a:buChar char="•"/>
                  <a:tabLst/>
                  <a:defRPr lang="en-US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3pPr>
                <a:lvl4pPr marL="1600200" marR="0" lvl="3" indent="-228600" algn="l" defTabSz="914400" rtl="0" eaLnBrk="1" fontAlgn="auto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SzPct val="100000"/>
                  <a:buFont typeface="Arial"/>
                  <a:buChar char="–"/>
                  <a:tabLst/>
                  <a:def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4pPr>
                <a:lvl5pPr marL="2057400" marR="0" lvl="4" indent="-228600" algn="l" defTabSz="914400" rtl="0" eaLnBrk="1" fontAlgn="auto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SzPct val="100000"/>
                  <a:buFont typeface="Arial"/>
                  <a:buChar char="»"/>
                  <a:tabLst/>
                  <a:def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defRPr>
                </a:lvl5pPr>
              </a:lstStyle>
              <a:p>
                <a:pPr marL="0" indent="0">
                  <a:buNone/>
                </a:pPr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Inline devices have major and/or minor losses: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Compute major losses (only </a:t>
                </a:r>
                <a:r>
                  <a:rPr lang="en-US" err="1">
                    <a:solidFill>
                      <a:srgbClr val="09213B"/>
                    </a:solidFill>
                    <a:latin typeface="Times"/>
                    <a:cs typeface="Times"/>
                  </a:rPr>
                  <a:t>DevicePipe</a:t>
                </a:r>
                <a:r>
                  <a:rPr lang="en-US">
                    <a:solidFill>
                      <a:srgbClr val="09213B"/>
                    </a:solidFill>
                    <a:latin typeface="Times"/>
                    <a:cs typeface="Times"/>
                  </a:rPr>
                  <a:t>): function of flow rate</a:t>
                </a:r>
              </a:p>
              <a:p>
                <a:pPr marL="0" indent="0">
                  <a:buNone/>
                </a:pPr>
                <a:endParaRPr lang="en-US">
                  <a:solidFill>
                    <a:srgbClr val="09213B"/>
                  </a:solidFill>
                  <a:latin typeface="Times"/>
                  <a:cs typeface="Times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rgbClr val="09213B"/>
                  </a:solidFill>
                  <a:latin typeface="Times"/>
                  <a:cs typeface="Times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2D53F91-505A-43B2-948E-C18BE253D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05" y="1434469"/>
                <a:ext cx="11445005" cy="4561107"/>
              </a:xfrm>
              <a:prstGeom prst="rect">
                <a:avLst/>
              </a:prstGeom>
              <a:blipFill>
                <a:blip r:embed="rId4"/>
                <a:stretch>
                  <a:fillRect l="-1119" t="-13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5CEFAB-06A7-4A9E-72C9-7510D8B8867B}"/>
                  </a:ext>
                </a:extLst>
              </p:cNvPr>
              <p:cNvSpPr txBox="1"/>
              <p:nvPr/>
            </p:nvSpPr>
            <p:spPr>
              <a:xfrm>
                <a:off x="3033709" y="4028820"/>
                <a:ext cx="6114422" cy="654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𝑣𝐷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5CEFAB-06A7-4A9E-72C9-7510D8B88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09" y="4028820"/>
                <a:ext cx="6114422" cy="6542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E442E5-A724-19C8-2E32-8AFD0BB133CD}"/>
                  </a:ext>
                </a:extLst>
              </p:cNvPr>
              <p:cNvSpPr txBox="1"/>
              <p:nvPr/>
            </p:nvSpPr>
            <p:spPr>
              <a:xfrm>
                <a:off x="3033709" y="4767112"/>
                <a:ext cx="6114422" cy="94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 = 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0.25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𝜖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3.7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den>
                                          </m:f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5.74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i="0">
                                                      <a:latin typeface="Cambria Math" panose="02040503050406030204" pitchFamily="18" charset="0"/>
                                                    </a:rPr>
                                                    <m:t>0.9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E442E5-A724-19C8-2E32-8AFD0BB13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09" y="4767112"/>
                <a:ext cx="6114422" cy="94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25001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442EA-A03B-7D45-0BC9-F62936D0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BA8C9B1-0326-43DE-AFCE-E4E8397888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5AAFB-68C2-C6A9-5E9C-18F5E26B699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29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B19A03-8526-6495-44EF-963FBD6ADBBE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CAF3FD3A-ABE0-806E-4D0D-95833547AA66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4FEFF84-7C44-620A-39C2-40176AA3C72F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3BA3503D-DEEF-8FC6-2578-608519B0BC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AD9B31-7821-646E-4D25-5740D4F40959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Fluid Power – Head Loss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FC6B1-30BC-AC62-A49F-598ACD99CF0A}"/>
                  </a:ext>
                </a:extLst>
              </p:cNvPr>
              <p:cNvSpPr txBox="1"/>
              <p:nvPr/>
            </p:nvSpPr>
            <p:spPr>
              <a:xfrm>
                <a:off x="3033709" y="1837153"/>
                <a:ext cx="6114422" cy="696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𝑚𝑗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FC6B1-30BC-AC62-A49F-598ACD99C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09" y="1837153"/>
                <a:ext cx="6114422" cy="6967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2A07E0-DCA4-BD0A-BDED-BE57DA1BF781}"/>
              </a:ext>
            </a:extLst>
          </p:cNvPr>
          <p:cNvSpPr txBox="1">
            <a:spLocks/>
          </p:cNvSpPr>
          <p:nvPr/>
        </p:nvSpPr>
        <p:spPr>
          <a:xfrm>
            <a:off x="368415" y="1416198"/>
            <a:ext cx="11445005" cy="560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Finally: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964EDBF-51DF-2B44-C23E-D0D2C6EE5E6D}"/>
              </a:ext>
            </a:extLst>
          </p:cNvPr>
          <p:cNvSpPr txBox="1">
            <a:spLocks/>
          </p:cNvSpPr>
          <p:nvPr/>
        </p:nvSpPr>
        <p:spPr>
          <a:xfrm>
            <a:off x="368417" y="4120329"/>
            <a:ext cx="11445005" cy="560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Total losses are computed for whole loop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15EE64-59D7-F0D9-B561-64DD34F3171E}"/>
                  </a:ext>
                </a:extLst>
              </p:cNvPr>
              <p:cNvSpPr txBox="1"/>
              <p:nvPr/>
            </p:nvSpPr>
            <p:spPr>
              <a:xfrm>
                <a:off x="3047163" y="5002207"/>
                <a:ext cx="6114422" cy="636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 = 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15EE64-59D7-F0D9-B561-64DD34F31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63" y="5002207"/>
                <a:ext cx="6114422" cy="636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7B2063-0F06-1FF6-6CEF-3FB4AEDDE028}"/>
                  </a:ext>
                </a:extLst>
              </p:cNvPr>
              <p:cNvSpPr txBox="1"/>
              <p:nvPr/>
            </p:nvSpPr>
            <p:spPr>
              <a:xfrm>
                <a:off x="3047163" y="3083148"/>
                <a:ext cx="6114422" cy="696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7B2063-0F06-1FF6-6CEF-3FB4AEDDE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63" y="3083148"/>
                <a:ext cx="6114422" cy="6967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9942553-6A00-4954-4847-D7A8AA7DBE28}"/>
              </a:ext>
            </a:extLst>
          </p:cNvPr>
          <p:cNvSpPr txBox="1">
            <a:spLocks/>
          </p:cNvSpPr>
          <p:nvPr/>
        </p:nvSpPr>
        <p:spPr>
          <a:xfrm>
            <a:off x="368416" y="2543776"/>
            <a:ext cx="11445005" cy="560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Minor losses:</a:t>
            </a:r>
          </a:p>
        </p:txBody>
      </p:sp>
    </p:spTree>
    <p:extLst>
      <p:ext uri="{BB962C8B-B14F-4D97-AF65-F5344CB8AC3E}">
        <p14:creationId xmlns:p14="http://schemas.microsoft.com/office/powerpoint/2010/main" val="249874610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442EA-A03B-7D45-0BC9-F62936D0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BA8C9B1-0326-43DE-AFCE-E4E8397888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5AAFB-68C2-C6A9-5E9C-18F5E26B699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30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B19A03-8526-6495-44EF-963FBD6ADBBE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CAF3FD3A-ABE0-806E-4D0D-95833547AA66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4FEFF84-7C44-620A-39C2-40176AA3C72F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3BA3503D-DEEF-8FC6-2578-608519B0BC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AD9B31-7821-646E-4D25-5740D4F40959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PID Offset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DC83ABA-168C-B0FA-1501-BD9224124704}"/>
              </a:ext>
            </a:extLst>
          </p:cNvPr>
          <p:cNvSpPr txBox="1">
            <a:spLocks/>
          </p:cNvSpPr>
          <p:nvPr/>
        </p:nvSpPr>
        <p:spPr>
          <a:xfrm>
            <a:off x="699093" y="1804385"/>
            <a:ext cx="2027837" cy="10776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rgbClr val="09213B"/>
                </a:solidFill>
                <a:latin typeface="Times"/>
                <a:cs typeface="Times"/>
              </a:rPr>
              <a:t>Decrease in  Pump speed </a:t>
            </a:r>
            <a:endParaRPr lang="en-US" sz="240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  <a:p>
            <a:pPr marL="0" indent="0" algn="ctr"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  <a:p>
            <a:pPr marL="0" indent="0" algn="ctr"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  <a:p>
            <a:pPr marL="0" indent="0" algn="ctr"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  <a:p>
            <a:pPr marL="0" indent="0" algn="ctr"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A53AB6-1EC2-49C0-9A9B-9403D07C43CD}"/>
              </a:ext>
            </a:extLst>
          </p:cNvPr>
          <p:cNvSpPr txBox="1">
            <a:spLocks/>
          </p:cNvSpPr>
          <p:nvPr/>
        </p:nvSpPr>
        <p:spPr>
          <a:xfrm>
            <a:off x="1015396" y="3213367"/>
            <a:ext cx="4328213" cy="2846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>
              <a:buNone/>
            </a:pPr>
            <a:r>
              <a:rPr lang="en-US" sz="2400" b="1">
                <a:solidFill>
                  <a:srgbClr val="09213B"/>
                </a:solidFill>
                <a:latin typeface="Times"/>
                <a:cs typeface="Times"/>
              </a:rPr>
              <a:t>Pump Off: </a:t>
            </a:r>
            <a:endParaRPr lang="en-US" sz="2400" b="1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>
                <a:solidFill>
                  <a:srgbClr val="09213B"/>
                </a:solidFill>
                <a:latin typeface="Times"/>
                <a:cs typeface="Times"/>
              </a:rPr>
              <a:t>Pump Speed = 0 RPM</a:t>
            </a:r>
          </a:p>
          <a:p>
            <a:pPr marL="0" indent="0">
              <a:buNone/>
            </a:pPr>
            <a:r>
              <a:rPr lang="en-US" sz="2400">
                <a:solidFill>
                  <a:srgbClr val="09213B"/>
                </a:solidFill>
                <a:latin typeface="Times"/>
                <a:cs typeface="Times"/>
              </a:rPr>
              <a:t>Engine Outlet Temp = 273 K</a:t>
            </a:r>
          </a:p>
          <a:p>
            <a:pPr marL="0" indent="0"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  <a:p>
            <a:pPr marL="0" indent="0" algn="ctr">
              <a:buNone/>
            </a:pPr>
            <a:r>
              <a:rPr lang="en-US" sz="2400">
                <a:solidFill>
                  <a:srgbClr val="09213B"/>
                </a:solidFill>
                <a:latin typeface="Times"/>
                <a:cs typeface="Times"/>
              </a:rPr>
              <a:t>The engine cannot build heat unless the pump is running</a:t>
            </a:r>
          </a:p>
          <a:p>
            <a:pPr marL="0" indent="0"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  <a:p>
            <a:pPr marL="0" indent="0"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  <a:p>
            <a:pPr marL="0" indent="0">
              <a:buNone/>
            </a:pPr>
            <a:endParaRPr lang="en-US" sz="2400">
              <a:solidFill>
                <a:srgbClr val="09213B"/>
              </a:solidFill>
              <a:latin typeface="Times"/>
              <a:cs typeface="Time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D2FD9C-4EBB-8EC0-91AD-790D77C22FA5}"/>
              </a:ext>
            </a:extLst>
          </p:cNvPr>
          <p:cNvSpPr txBox="1">
            <a:spLocks/>
          </p:cNvSpPr>
          <p:nvPr/>
        </p:nvSpPr>
        <p:spPr>
          <a:xfrm>
            <a:off x="3402035" y="1545592"/>
            <a:ext cx="2329762" cy="14370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marL="0" indent="0" algn="ctr">
              <a:buNone/>
            </a:pPr>
            <a:r>
              <a:rPr lang="en-US" sz="2400">
                <a:solidFill>
                  <a:srgbClr val="09213B"/>
                </a:solidFill>
                <a:latin typeface="Times"/>
                <a:cs typeface="Times"/>
              </a:rPr>
              <a:t>Increase in Engine Outlet Temperature </a:t>
            </a:r>
          </a:p>
        </p:txBody>
      </p:sp>
      <p:pic>
        <p:nvPicPr>
          <p:cNvPr id="12" name="Graphic 11" descr="Arrow Right with solid fill">
            <a:extLst>
              <a:ext uri="{FF2B5EF4-FFF2-40B4-BE49-F238E27FC236}">
                <a16:creationId xmlns:a16="http://schemas.microsoft.com/office/drawing/2014/main" id="{1A19EBC2-8361-CF4F-CBCA-DF4EABC3A3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3932" y="1807234"/>
            <a:ext cx="914400" cy="91440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9EBFC9-9E44-5D03-4D69-078FE04ED5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4" t="26915" r="9802" b="4911"/>
          <a:stretch>
            <a:fillRect/>
          </a:stretch>
        </p:blipFill>
        <p:spPr>
          <a:xfrm>
            <a:off x="6119960" y="2082599"/>
            <a:ext cx="5463769" cy="324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8554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30411-9004-99BC-3A61-90BCDCB7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9F4B393-E308-9368-7513-5C294D51B6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23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latin typeface="Times" panose="02020603050405020304"/>
              <a:cs typeface="Times" panose="020206030504050203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CB77F-8AA3-9929-27FC-D7C7FC6CF06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fld id="{3A12A305-C63D-4EF0-9C9A-417C6F0B6317}" type="slidenum">
              <a:rPr lang="en-US"/>
              <a:pPr/>
              <a:t>31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F18C2-BFD0-9F74-0E3A-9422183CC0CC}"/>
              </a:ext>
            </a:extLst>
          </p:cNvPr>
          <p:cNvCxnSpPr>
            <a:cxnSpLocks/>
          </p:cNvCxnSpPr>
          <p:nvPr/>
        </p:nvCxnSpPr>
        <p:spPr>
          <a:xfrm>
            <a:off x="-10160" y="1143000"/>
            <a:ext cx="12202160" cy="0"/>
          </a:xfrm>
          <a:prstGeom prst="line">
            <a:avLst/>
          </a:prstGeom>
          <a:ln w="28575">
            <a:solidFill>
              <a:srgbClr val="FFB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CC78AD6-2707-1AF6-86CF-6EBC9ED19251}"/>
              </a:ext>
            </a:extLst>
          </p:cNvPr>
          <p:cNvSpPr/>
          <p:nvPr/>
        </p:nvSpPr>
        <p:spPr>
          <a:xfrm>
            <a:off x="11153773" y="155175"/>
            <a:ext cx="857250" cy="804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A1051C-5448-7C22-D04D-A39DF7141200}"/>
              </a:ext>
            </a:extLst>
          </p:cNvPr>
          <p:cNvSpPr/>
          <p:nvPr/>
        </p:nvSpPr>
        <p:spPr>
          <a:xfrm>
            <a:off x="11153774" y="169151"/>
            <a:ext cx="857250" cy="4362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Maine_Maritime_Academy_seal.png">
            <a:extLst>
              <a:ext uri="{FF2B5EF4-FFF2-40B4-BE49-F238E27FC236}">
                <a16:creationId xmlns:a16="http://schemas.microsoft.com/office/drawing/2014/main" id="{89D1D638-1EFE-BFBA-95E9-E4167B7A1C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5372" y="54531"/>
            <a:ext cx="994052" cy="1005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2E844F-595B-077B-27FA-792C2A50B48B}"/>
              </a:ext>
            </a:extLst>
          </p:cNvPr>
          <p:cNvSpPr txBox="1"/>
          <p:nvPr/>
        </p:nvSpPr>
        <p:spPr>
          <a:xfrm>
            <a:off x="175896" y="205200"/>
            <a:ext cx="9721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/>
                <a:cs typeface="Times" panose="02020603050405020304"/>
              </a:rPr>
              <a:t>Model Shortcomings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D90EAE-441F-0798-3678-453E812BD6FC}"/>
              </a:ext>
            </a:extLst>
          </p:cNvPr>
          <p:cNvSpPr txBox="1">
            <a:spLocks/>
          </p:cNvSpPr>
          <p:nvPr/>
        </p:nvSpPr>
        <p:spPr>
          <a:xfrm>
            <a:off x="520815" y="1568599"/>
            <a:ext cx="11061584" cy="478775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>
            <a:lvl1pPr marL="342900" marR="0" lvl="0" indent="-342900" algn="l" defTabSz="914400" rtl="0" eaLnBrk="1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742950" marR="0" lvl="1" indent="-285750" algn="l" defTabSz="914400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eaLnBrk="1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eaLnBrk="1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Static convective heat transfer model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Mass not distributed by volume, instead by length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Pump curve scales only pressure rather than flow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Heat only transfers in heat exchangers (not pipes or pumps)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Can’t handle parallel flow or non-looped flow</a:t>
            </a:r>
          </a:p>
          <a:p>
            <a:r>
              <a:rPr lang="en-US">
                <a:solidFill>
                  <a:srgbClr val="09213B"/>
                </a:solidFill>
                <a:latin typeface="Times"/>
                <a:cs typeface="Times"/>
              </a:rPr>
              <a:t>Isothermal sink</a:t>
            </a:r>
          </a:p>
        </p:txBody>
      </p:sp>
    </p:spTree>
    <p:extLst>
      <p:ext uri="{BB962C8B-B14F-4D97-AF65-F5344CB8AC3E}">
        <p14:creationId xmlns:p14="http://schemas.microsoft.com/office/powerpoint/2010/main" val="1955074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Office Them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ede3a8-0497-407d-aaa1-ab5f5b5129d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6F243DCBE76D4E95D33DE42DB70C25" ma:contentTypeVersion="13" ma:contentTypeDescription="Create a new document." ma:contentTypeScope="" ma:versionID="b653d584170c7414d737948e9e77ff9f">
  <xsd:schema xmlns:xsd="http://www.w3.org/2001/XMLSchema" xmlns:xs="http://www.w3.org/2001/XMLSchema" xmlns:p="http://schemas.microsoft.com/office/2006/metadata/properties" xmlns:ns3="27ede3a8-0497-407d-aaa1-ab5f5b5129d9" xmlns:ns4="1c87c3f8-ce06-48e7-b058-f73054997e66" targetNamespace="http://schemas.microsoft.com/office/2006/metadata/properties" ma:root="true" ma:fieldsID="a345660e1fe69e2da4aa96f915f58ef1" ns3:_="" ns4:_="">
    <xsd:import namespace="27ede3a8-0497-407d-aaa1-ab5f5b5129d9"/>
    <xsd:import namespace="1c87c3f8-ce06-48e7-b058-f73054997e6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de3a8-0497-407d-aaa1-ab5f5b5129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87c3f8-ce06-48e7-b058-f73054997e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43C947-AD5D-4BA9-BC5E-9547B64D21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2DFEAD-0382-4967-B95A-5063946FC6D5}">
  <ds:schemaRefs>
    <ds:schemaRef ds:uri="1c87c3f8-ce06-48e7-b058-f73054997e66"/>
    <ds:schemaRef ds:uri="27ede3a8-0497-407d-aaa1-ab5f5b5129d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F95D9DD-B3B6-48D9-A344-E29289CBB60D}">
  <ds:schemaRefs>
    <ds:schemaRef ds:uri="1c87c3f8-ce06-48e7-b058-f73054997e66"/>
    <ds:schemaRef ds:uri="27ede3a8-0497-407d-aaa1-ab5f5b5129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Capstone Overview Presentation</Template>
  <Application>Microsoft Office PowerPoint</Application>
  <PresentationFormat>Widescreen</PresentationFormat>
  <Slides>31</Slides>
  <Notes>31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1_Office Theme</vt:lpstr>
      <vt:lpstr>Reactor on Chip (ROC): Simulated Industrial Plant on Raspberry 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Cooper Parlee</dc:creator>
  <cp:revision>4</cp:revision>
  <dcterms:created xsi:type="dcterms:W3CDTF">2025-12-09T00:45:25Z</dcterms:created>
  <dcterms:modified xsi:type="dcterms:W3CDTF">2026-08-04T22:58:38Z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0x010100856F243DCBE76D4E95D33DE42DB70C25</vt:lpwstr>
  </property>
</Properties>
</file>